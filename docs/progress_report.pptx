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計画に合う指示</c:v>
                </c:pt>
              </c:strCache>
            </c:strRef>
          </c:tx>
          <c:spPr>
            <a:solidFill>
              <a:srgbClr val="028090"/>
            </a:solidFill>
          </c:spPr>
          <c:cat>
            <c:strRef>
              <c:f>Sheet1!$A$2:$A$4</c:f>
              <c:strCache>
                <c:ptCount val="3"/>
                <c:pt idx="0">
                  <c:v>0（すぐやる）</c:v>
                </c:pt>
                <c:pt idx="1">
                  <c:v>2（すこし後回し）</c:v>
                </c:pt>
                <c:pt idx="2">
                  <c:v>4（かなり後回し）</c:v>
                </c:pt>
              </c:strCache>
            </c:strRef>
          </c:cat>
          <c:val>
            <c:numRef>
              <c:f>Sheet1!$B$2:$B$4</c:f>
              <c:numCache>
                <c:formatCode>General</c:formatCode>
                <c:ptCount val="3"/>
                <c:pt idx="0">
                  <c:v>1.25</c:v>
                </c:pt>
                <c:pt idx="1">
                  <c:v>0.0</c:v>
                </c:pt>
                <c:pt idx="2">
                  <c:v>0.0</c:v>
                </c:pt>
              </c:numCache>
            </c:numRef>
          </c:val>
        </c:ser>
        <c:ser>
          <c:idx val="1"/>
          <c:order val="1"/>
          <c:tx>
            <c:strRef>
              <c:f>Sheet1!$C$1</c:f>
              <c:strCache>
                <c:ptCount val="1"/>
                <c:pt idx="0">
                  <c:v>計画に合わない指示</c:v>
                </c:pt>
              </c:strCache>
            </c:strRef>
          </c:tx>
          <c:spPr>
            <a:solidFill>
              <a:srgbClr val="D9534F"/>
            </a:solidFill>
          </c:spPr>
          <c:cat>
            <c:strRef>
              <c:f>Sheet1!$A$2:$A$4</c:f>
              <c:strCache>
                <c:ptCount val="3"/>
                <c:pt idx="0">
                  <c:v>0（すぐやる）</c:v>
                </c:pt>
                <c:pt idx="1">
                  <c:v>2（すこし後回し）</c:v>
                </c:pt>
                <c:pt idx="2">
                  <c:v>4（かなり後回し）</c:v>
                </c:pt>
              </c:strCache>
            </c:strRef>
          </c:cat>
          <c:val>
            <c:numRef>
              <c:f>Sheet1!$C$2:$C$4</c:f>
              <c:numCache>
                <c:formatCode>General</c:formatCode>
                <c:ptCount val="3"/>
                <c:pt idx="0">
                  <c:v>3.17</c:v>
                </c:pt>
                <c:pt idx="1">
                  <c:v>1.17</c:v>
                </c:pt>
                <c:pt idx="2">
                  <c:v>0.54</c:v>
                </c:pt>
              </c:numCache>
            </c:numRef>
          </c:val>
        </c:ser>
        <c:ser>
          <c:idx val="2"/>
          <c:order val="2"/>
          <c:tx>
            <c:strRef>
              <c:f>Sheet1!$D$1</c:f>
              <c:strCache>
                <c:ptCount val="1"/>
                <c:pt idx="0">
                  <c:v>無作為な指示</c:v>
                </c:pt>
              </c:strCache>
            </c:strRef>
          </c:tx>
          <c:spPr>
            <a:solidFill>
              <a:srgbClr val="6B7C80"/>
            </a:solidFill>
          </c:spPr>
          <c:cat>
            <c:strRef>
              <c:f>Sheet1!$A$2:$A$4</c:f>
              <c:strCache>
                <c:ptCount val="3"/>
                <c:pt idx="0">
                  <c:v>0（すぐやる）</c:v>
                </c:pt>
                <c:pt idx="1">
                  <c:v>2（すこし後回し）</c:v>
                </c:pt>
                <c:pt idx="2">
                  <c:v>4（かなり後回し）</c:v>
                </c:pt>
              </c:strCache>
            </c:strRef>
          </c:cat>
          <c:val>
            <c:numRef>
              <c:f>Sheet1!$D$2:$D$4</c:f>
              <c:numCache>
                <c:formatCode>General</c:formatCode>
                <c:ptCount val="3"/>
                <c:pt idx="0">
                  <c:v>2.08</c:v>
                </c:pt>
                <c:pt idx="1">
                  <c:v>0.5</c:v>
                </c:pt>
                <c:pt idx="2">
                  <c:v>-0.23</c:v>
                </c:pt>
              </c:numCache>
            </c:numRef>
          </c:val>
        </c:ser>
        <c:dLbls>
          <c:numFmt formatCode="0.00" sourceLinked="0"/>
          <c:txPr>
            <a:bodyPr/>
            <a:lstStyle/>
            <a:p>
              <a:pPr>
                <a:defRPr sz="1000">
                  <a:solidFill>
                    <a:srgbClr val="1A2E33"/>
                  </a:solidFill>
                  <a:latin typeface="Meiryo"/>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6B7C80"/>
                </a:solidFill>
                <a:latin typeface="Meiryo"/>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6B7C80"/>
                </a:solidFill>
                <a:latin typeface="Meiryo"/>
              </a:defRPr>
            </a:pPr>
          </a:p>
        </c:txPr>
        <c:crossAx val="-2068027336"/>
        <c:crosses val="autoZero"/>
      </c:valAx>
    </c:plotArea>
    <c:legend>
      <c:legendPos val="b"/>
      <c:overlay val="0"/>
      <c:txPr>
        <a:bodyPr/>
        <a:lstStyle/>
        <a:p>
          <a:pPr>
            <a:defRPr sz="1100">
              <a:latin typeface="Meiryo"/>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57400"/>
            <a:ext cx="10332720" cy="457200"/>
          </a:xfrm>
          <a:prstGeom prst="rect">
            <a:avLst/>
          </a:prstGeom>
          <a:noFill/>
        </p:spPr>
        <p:txBody>
          <a:bodyPr wrap="square" lIns="0" rIns="0" tIns="0" bIns="0" anchor="t">
            <a:spAutoFit/>
          </a:bodyPr>
          <a:lstStyle/>
          <a:p>
            <a:pPr algn="l">
              <a:spcAft>
                <a:spcPts val="600"/>
              </a:spcAft>
            </a:pPr>
            <a:r>
              <a:rPr sz="1700" b="1">
                <a:solidFill>
                  <a:srgbClr val="02C39A"/>
                </a:solidFill>
                <a:latin typeface="Meiryo"/>
              </a:rPr>
              <a:t>研究進捗報告</a:t>
            </a:r>
          </a:p>
        </p:txBody>
      </p:sp>
      <p:sp>
        <p:nvSpPr>
          <p:cNvPr id="4" name="TextBox 3"/>
          <p:cNvSpPr txBox="1"/>
          <p:nvPr/>
        </p:nvSpPr>
        <p:spPr>
          <a:xfrm>
            <a:off x="914400" y="2697480"/>
            <a:ext cx="10332720" cy="1737360"/>
          </a:xfrm>
          <a:prstGeom prst="rect">
            <a:avLst/>
          </a:prstGeom>
          <a:noFill/>
        </p:spPr>
        <p:txBody>
          <a:bodyPr wrap="square" lIns="0" rIns="0" tIns="0" bIns="0" anchor="t">
            <a:spAutoFit/>
          </a:bodyPr>
          <a:lstStyle/>
          <a:p>
            <a:pPr algn="l">
              <a:lnSpc>
                <a:spcPct val="125000"/>
              </a:lnSpc>
              <a:spcAft>
                <a:spcPts val="0"/>
              </a:spcAft>
            </a:pPr>
            <a:r>
              <a:rPr sz="4200" b="1">
                <a:solidFill>
                  <a:srgbClr val="FFFFFF"/>
                </a:solidFill>
                <a:latin typeface="Meiryo"/>
              </a:rPr>
              <a:t>AI はどこまで人の指示を</a:t>
            </a:r>
          </a:p>
          <a:p>
            <a:pPr algn="l">
              <a:lnSpc>
                <a:spcPct val="125000"/>
              </a:lnSpc>
              <a:spcAft>
                <a:spcPts val="0"/>
              </a:spcAft>
            </a:pPr>
            <a:r>
              <a:rPr sz="4200" b="1">
                <a:solidFill>
                  <a:srgbClr val="FFFFFF"/>
                </a:solidFill>
                <a:latin typeface="Meiryo"/>
              </a:rPr>
              <a:t>「後回し」にしてよいのか</a:t>
            </a:r>
          </a:p>
        </p:txBody>
      </p:sp>
      <p:sp>
        <p:nvSpPr>
          <p:cNvPr id="5" name="TextBox 4"/>
          <p:cNvSpPr txBox="1"/>
          <p:nvPr/>
        </p:nvSpPr>
        <p:spPr>
          <a:xfrm>
            <a:off x="914400" y="4709160"/>
            <a:ext cx="10332720" cy="822960"/>
          </a:xfrm>
          <a:prstGeom prst="rect">
            <a:avLst/>
          </a:prstGeom>
          <a:noFill/>
        </p:spPr>
        <p:txBody>
          <a:bodyPr wrap="square" lIns="0" rIns="0" tIns="0" bIns="0" anchor="t">
            <a:spAutoFit/>
          </a:bodyPr>
          <a:lstStyle/>
          <a:p>
            <a:pPr algn="l">
              <a:lnSpc>
                <a:spcPct val="135000"/>
              </a:lnSpc>
              <a:spcAft>
                <a:spcPts val="200"/>
              </a:spcAft>
            </a:pPr>
            <a:r>
              <a:rPr sz="1500" b="0">
                <a:solidFill>
                  <a:srgbClr val="B9D6D9"/>
                </a:solidFill>
                <a:latin typeface="Meiryo"/>
              </a:rPr>
              <a:t>人と AI が協力して料理をつくる環境で、</a:t>
            </a:r>
          </a:p>
          <a:p>
            <a:pPr algn="l">
              <a:lnSpc>
                <a:spcPct val="135000"/>
              </a:lnSpc>
              <a:spcAft>
                <a:spcPts val="200"/>
              </a:spcAft>
            </a:pPr>
            <a:r>
              <a:rPr sz="1500" b="0">
                <a:solidFill>
                  <a:srgbClr val="B9D6D9"/>
                </a:solidFill>
                <a:latin typeface="Meiryo"/>
              </a:rPr>
              <a:t>AI が指示を先送りする度合いが、人の体験にどう響くかを調べています。</a:t>
            </a:r>
          </a:p>
        </p:txBody>
      </p:sp>
      <p:sp>
        <p:nvSpPr>
          <p:cNvPr id="6" name="TextBox 5"/>
          <p:cNvSpPr txBox="1"/>
          <p:nvPr/>
        </p:nvSpPr>
        <p:spPr>
          <a:xfrm>
            <a:off x="914400" y="5989320"/>
            <a:ext cx="10332720" cy="365760"/>
          </a:xfrm>
          <a:prstGeom prst="rect">
            <a:avLst/>
          </a:prstGeom>
          <a:noFill/>
        </p:spPr>
        <p:txBody>
          <a:bodyPr wrap="square" lIns="0" rIns="0" tIns="0" bIns="0" anchor="t">
            <a:spAutoFit/>
          </a:bodyPr>
          <a:lstStyle/>
          <a:p>
            <a:pPr algn="l">
              <a:spcAft>
                <a:spcPts val="600"/>
              </a:spcAft>
            </a:pPr>
            <a:r>
              <a:rPr sz="1200" b="0">
                <a:solidFill>
                  <a:srgbClr val="6B7C80"/>
                </a:solidFill>
                <a:latin typeface="Meiryo"/>
              </a:rPr>
              <a:t>2026年9月9日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この研究を一言でいうと</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効率のよい AI ほど、人の指示を後回しにする。その代償を測ります。</a:t>
            </a:r>
          </a:p>
        </p:txBody>
      </p:sp>
      <p:sp>
        <p:nvSpPr>
          <p:cNvPr id="5" name="Rounded Rectangle 4"/>
          <p:cNvSpPr/>
          <p:nvPr/>
        </p:nvSpPr>
        <p:spPr>
          <a:xfrm>
            <a:off x="685800" y="1965960"/>
            <a:ext cx="10789920" cy="123444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960120" y="2295144"/>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1</a:t>
            </a:r>
          </a:p>
        </p:txBody>
      </p:sp>
      <p:sp>
        <p:nvSpPr>
          <p:cNvPr id="7" name="TextBox 6"/>
          <p:cNvSpPr txBox="1"/>
          <p:nvPr/>
        </p:nvSpPr>
        <p:spPr>
          <a:xfrm>
            <a:off x="1783080" y="2203704"/>
            <a:ext cx="1828800" cy="365760"/>
          </a:xfrm>
          <a:prstGeom prst="rect">
            <a:avLst/>
          </a:prstGeom>
          <a:noFill/>
        </p:spPr>
        <p:txBody>
          <a:bodyPr wrap="square" lIns="0" rIns="0" tIns="0" bIns="0" anchor="t">
            <a:spAutoFit/>
          </a:bodyPr>
          <a:lstStyle/>
          <a:p>
            <a:pPr algn="l">
              <a:spcAft>
                <a:spcPts val="600"/>
              </a:spcAft>
            </a:pPr>
            <a:r>
              <a:rPr sz="1700" b="1">
                <a:solidFill>
                  <a:srgbClr val="028090"/>
                </a:solidFill>
                <a:latin typeface="Meiryo"/>
              </a:rPr>
              <a:t>状況</a:t>
            </a:r>
          </a:p>
        </p:txBody>
      </p:sp>
      <p:sp>
        <p:nvSpPr>
          <p:cNvPr id="8" name="TextBox 7"/>
          <p:cNvSpPr txBox="1"/>
          <p:nvPr/>
        </p:nvSpPr>
        <p:spPr>
          <a:xfrm>
            <a:off x="3703320" y="2221991"/>
            <a:ext cx="7498079" cy="822960"/>
          </a:xfrm>
          <a:prstGeom prst="rect">
            <a:avLst/>
          </a:prstGeom>
          <a:noFill/>
        </p:spPr>
        <p:txBody>
          <a:bodyPr wrap="square" lIns="0" rIns="0" tIns="0" bIns="0" anchor="t">
            <a:spAutoFit/>
          </a:bodyPr>
          <a:lstStyle/>
          <a:p>
            <a:pPr algn="l">
              <a:lnSpc>
                <a:spcPct val="130000"/>
              </a:lnSpc>
              <a:spcAft>
                <a:spcPts val="600"/>
              </a:spcAft>
            </a:pPr>
            <a:r>
              <a:rPr sz="1400" b="0">
                <a:solidFill>
                  <a:srgbClr val="1A2E33"/>
                </a:solidFill>
                <a:latin typeface="Meiryo"/>
              </a:rPr>
              <a:t>人と AI が2人で協力し、3つの料理を最短時間で仕上げる。AI は全体最適の計画を立てて動く。</a:t>
            </a:r>
          </a:p>
        </p:txBody>
      </p:sp>
      <p:sp>
        <p:nvSpPr>
          <p:cNvPr id="9" name="Rounded Rectangle 8"/>
          <p:cNvSpPr/>
          <p:nvPr/>
        </p:nvSpPr>
        <p:spPr>
          <a:xfrm>
            <a:off x="685800" y="3447288"/>
            <a:ext cx="10789920" cy="123444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960120" y="3776472"/>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2</a:t>
            </a:r>
          </a:p>
        </p:txBody>
      </p:sp>
      <p:sp>
        <p:nvSpPr>
          <p:cNvPr id="11" name="TextBox 10"/>
          <p:cNvSpPr txBox="1"/>
          <p:nvPr/>
        </p:nvSpPr>
        <p:spPr>
          <a:xfrm>
            <a:off x="1783080" y="3685032"/>
            <a:ext cx="1828800" cy="365760"/>
          </a:xfrm>
          <a:prstGeom prst="rect">
            <a:avLst/>
          </a:prstGeom>
          <a:noFill/>
        </p:spPr>
        <p:txBody>
          <a:bodyPr wrap="square" lIns="0" rIns="0" tIns="0" bIns="0" anchor="t">
            <a:spAutoFit/>
          </a:bodyPr>
          <a:lstStyle/>
          <a:p>
            <a:pPr algn="l">
              <a:spcAft>
                <a:spcPts val="600"/>
              </a:spcAft>
            </a:pPr>
            <a:r>
              <a:rPr sz="1700" b="1">
                <a:solidFill>
                  <a:srgbClr val="028090"/>
                </a:solidFill>
                <a:latin typeface="Meiryo"/>
              </a:rPr>
              <a:t>起きること</a:t>
            </a:r>
          </a:p>
        </p:txBody>
      </p:sp>
      <p:sp>
        <p:nvSpPr>
          <p:cNvPr id="12" name="TextBox 11"/>
          <p:cNvSpPr txBox="1"/>
          <p:nvPr/>
        </p:nvSpPr>
        <p:spPr>
          <a:xfrm>
            <a:off x="3703320" y="3703320"/>
            <a:ext cx="7498079" cy="822960"/>
          </a:xfrm>
          <a:prstGeom prst="rect">
            <a:avLst/>
          </a:prstGeom>
          <a:noFill/>
        </p:spPr>
        <p:txBody>
          <a:bodyPr wrap="square" lIns="0" rIns="0" tIns="0" bIns="0" anchor="t">
            <a:spAutoFit/>
          </a:bodyPr>
          <a:lstStyle/>
          <a:p>
            <a:pPr algn="l">
              <a:lnSpc>
                <a:spcPct val="130000"/>
              </a:lnSpc>
              <a:spcAft>
                <a:spcPts val="600"/>
              </a:spcAft>
            </a:pPr>
            <a:r>
              <a:rPr sz="1400" b="0">
                <a:solidFill>
                  <a:srgbClr val="1A2E33"/>
                </a:solidFill>
                <a:latin typeface="Meiryo"/>
              </a:rPr>
              <a:t>人が「これをやって」と頼んでも、AI の計画に合わない指示は後回しにされる。効率を優先するほどそうなる。</a:t>
            </a:r>
          </a:p>
        </p:txBody>
      </p:sp>
      <p:sp>
        <p:nvSpPr>
          <p:cNvPr id="13" name="Rounded Rectangle 12"/>
          <p:cNvSpPr/>
          <p:nvPr/>
        </p:nvSpPr>
        <p:spPr>
          <a:xfrm>
            <a:off x="685800" y="4928616"/>
            <a:ext cx="10789920" cy="123444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960120" y="5257800"/>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3</a:t>
            </a:r>
          </a:p>
        </p:txBody>
      </p:sp>
      <p:sp>
        <p:nvSpPr>
          <p:cNvPr id="15" name="TextBox 14"/>
          <p:cNvSpPr txBox="1"/>
          <p:nvPr/>
        </p:nvSpPr>
        <p:spPr>
          <a:xfrm>
            <a:off x="1783080" y="5166360"/>
            <a:ext cx="1828800" cy="365760"/>
          </a:xfrm>
          <a:prstGeom prst="rect">
            <a:avLst/>
          </a:prstGeom>
          <a:noFill/>
        </p:spPr>
        <p:txBody>
          <a:bodyPr wrap="square" lIns="0" rIns="0" tIns="0" bIns="0" anchor="t">
            <a:spAutoFit/>
          </a:bodyPr>
          <a:lstStyle/>
          <a:p>
            <a:pPr algn="l">
              <a:spcAft>
                <a:spcPts val="600"/>
              </a:spcAft>
            </a:pPr>
            <a:r>
              <a:rPr sz="1700" b="1">
                <a:solidFill>
                  <a:srgbClr val="028090"/>
                </a:solidFill>
                <a:latin typeface="Meiryo"/>
              </a:rPr>
              <a:t>問い</a:t>
            </a:r>
          </a:p>
        </p:txBody>
      </p:sp>
      <p:sp>
        <p:nvSpPr>
          <p:cNvPr id="16" name="TextBox 15"/>
          <p:cNvSpPr txBox="1"/>
          <p:nvPr/>
        </p:nvSpPr>
        <p:spPr>
          <a:xfrm>
            <a:off x="3703320" y="5184648"/>
            <a:ext cx="7498079" cy="822960"/>
          </a:xfrm>
          <a:prstGeom prst="rect">
            <a:avLst/>
          </a:prstGeom>
          <a:noFill/>
        </p:spPr>
        <p:txBody>
          <a:bodyPr wrap="square" lIns="0" rIns="0" tIns="0" bIns="0" anchor="t">
            <a:spAutoFit/>
          </a:bodyPr>
          <a:lstStyle/>
          <a:p>
            <a:pPr algn="l">
              <a:lnSpc>
                <a:spcPct val="130000"/>
              </a:lnSpc>
              <a:spcAft>
                <a:spcPts val="600"/>
              </a:spcAft>
            </a:pPr>
            <a:r>
              <a:rPr sz="1400" b="0">
                <a:solidFill>
                  <a:srgbClr val="1A2E33"/>
                </a:solidFill>
                <a:latin typeface="Meiryo"/>
              </a:rPr>
              <a:t>後回しにされたとき、人はどれだけ「聞いてもらえなかった」と感じるのか。その度合いを操作して測る。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題材：仕切りで分かれたキッチン</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2人は行き来できない。相手に頼まないと完成しない料理がある。</a:t>
            </a:r>
          </a:p>
        </p:txBody>
      </p:sp>
      <p:sp>
        <p:nvSpPr>
          <p:cNvPr id="5" name="Rounded Rectangle 4"/>
          <p:cNvSpPr/>
          <p:nvPr/>
        </p:nvSpPr>
        <p:spPr>
          <a:xfrm>
            <a:off x="685800" y="1920240"/>
            <a:ext cx="4160520" cy="356616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60120" y="2121408"/>
            <a:ext cx="3611880" cy="365760"/>
          </a:xfrm>
          <a:prstGeom prst="rect">
            <a:avLst/>
          </a:prstGeom>
          <a:noFill/>
        </p:spPr>
        <p:txBody>
          <a:bodyPr wrap="square" lIns="0" rIns="0" tIns="0" bIns="0" anchor="t">
            <a:spAutoFit/>
          </a:bodyPr>
          <a:lstStyle/>
          <a:p>
            <a:pPr algn="l">
              <a:spcAft>
                <a:spcPts val="600"/>
              </a:spcAft>
            </a:pPr>
            <a:r>
              <a:rPr sz="1600" b="1">
                <a:solidFill>
                  <a:srgbClr val="028090"/>
                </a:solidFill>
                <a:latin typeface="Meiryo"/>
              </a:rPr>
              <a:t>AI 側（左）</a:t>
            </a:r>
          </a:p>
        </p:txBody>
      </p:sp>
      <p:sp>
        <p:nvSpPr>
          <p:cNvPr id="7" name="TextBox 6"/>
          <p:cNvSpPr txBox="1"/>
          <p:nvPr/>
        </p:nvSpPr>
        <p:spPr>
          <a:xfrm>
            <a:off x="960120" y="2651760"/>
            <a:ext cx="3611880" cy="2651760"/>
          </a:xfrm>
          <a:prstGeom prst="rect">
            <a:avLst/>
          </a:prstGeom>
          <a:noFill/>
        </p:spPr>
        <p:txBody>
          <a:bodyPr wrap="square" lIns="0" rIns="0" tIns="0" bIns="0" anchor="t">
            <a:spAutoFit/>
          </a:bodyPr>
          <a:lstStyle/>
          <a:p>
            <a:pPr algn="l">
              <a:lnSpc>
                <a:spcPct val="150000"/>
              </a:lnSpc>
              <a:spcAft>
                <a:spcPts val="1000"/>
              </a:spcAft>
            </a:pPr>
            <a:r>
              <a:rPr sz="1400" b="0">
                <a:solidFill>
                  <a:srgbClr val="1A2E33"/>
                </a:solidFill>
                <a:latin typeface="Meiryo"/>
              </a:rPr>
              <a:t>具材　レタス・玉ねぎ・りんご・オレンジ</a:t>
            </a:r>
          </a:p>
          <a:p>
            <a:pPr algn="l">
              <a:lnSpc>
                <a:spcPct val="150000"/>
              </a:lnSpc>
              <a:spcAft>
                <a:spcPts val="1000"/>
              </a:spcAft>
            </a:pPr>
            <a:r>
              <a:rPr sz="1400" b="0">
                <a:solidFill>
                  <a:srgbClr val="1A2E33"/>
                </a:solidFill>
                <a:latin typeface="Meiryo"/>
              </a:rPr>
              <a:t>設備　鍋</a:t>
            </a:r>
          </a:p>
          <a:p>
            <a:pPr algn="l">
              <a:lnSpc>
                <a:spcPct val="150000"/>
              </a:lnSpc>
              <a:spcAft>
                <a:spcPts val="1000"/>
              </a:spcAft>
            </a:pPr>
            <a:r>
              <a:rPr sz="1400" b="0">
                <a:solidFill>
                  <a:srgbClr val="1A2E33"/>
                </a:solidFill>
                <a:latin typeface="Meiryo"/>
              </a:rPr>
              <a:t>まな板　なし</a:t>
            </a:r>
          </a:p>
        </p:txBody>
      </p:sp>
      <p:sp>
        <p:nvSpPr>
          <p:cNvPr id="8" name="TextBox 7"/>
          <p:cNvSpPr txBox="1"/>
          <p:nvPr/>
        </p:nvSpPr>
        <p:spPr>
          <a:xfrm>
            <a:off x="960120" y="4709160"/>
            <a:ext cx="3611880" cy="640080"/>
          </a:xfrm>
          <a:prstGeom prst="rect">
            <a:avLst/>
          </a:prstGeom>
          <a:noFill/>
        </p:spPr>
        <p:txBody>
          <a:bodyPr wrap="square" lIns="0" rIns="0" tIns="0" bIns="0" anchor="t">
            <a:spAutoFit/>
          </a:bodyPr>
          <a:lstStyle/>
          <a:p>
            <a:pPr algn="l">
              <a:lnSpc>
                <a:spcPct val="130000"/>
              </a:lnSpc>
              <a:spcAft>
                <a:spcPts val="600"/>
              </a:spcAft>
            </a:pPr>
            <a:r>
              <a:rPr sz="1300" b="1">
                <a:solidFill>
                  <a:srgbClr val="D9534F"/>
                </a:solidFill>
                <a:latin typeface="Meiryo"/>
              </a:rPr>
              <a:t>AI 側の具材は、そのままでは切れない。</a:t>
            </a:r>
          </a:p>
        </p:txBody>
      </p:sp>
      <p:sp>
        <p:nvSpPr>
          <p:cNvPr id="9" name="Rounded Rectangle 8"/>
          <p:cNvSpPr/>
          <p:nvPr/>
        </p:nvSpPr>
        <p:spPr>
          <a:xfrm>
            <a:off x="5074920" y="1920240"/>
            <a:ext cx="2011680" cy="3566160"/>
          </a:xfrm>
          <a:prstGeom prst="roundRect">
            <a:avLst>
              <a:gd name="adj" fmla="val 8000"/>
            </a:avLst>
          </a:prstGeom>
          <a:solidFill>
            <a:srgbClr val="D7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138928" y="3063240"/>
            <a:ext cx="1883664" cy="1280160"/>
          </a:xfrm>
          <a:prstGeom prst="rect">
            <a:avLst/>
          </a:prstGeom>
          <a:noFill/>
        </p:spPr>
        <p:txBody>
          <a:bodyPr wrap="square" lIns="0" rIns="0" tIns="0" bIns="0" anchor="t">
            <a:spAutoFit/>
          </a:bodyPr>
          <a:lstStyle/>
          <a:p>
            <a:pPr algn="ctr">
              <a:lnSpc>
                <a:spcPct val="140000"/>
              </a:lnSpc>
              <a:spcAft>
                <a:spcPts val="400"/>
              </a:spcAft>
            </a:pPr>
            <a:r>
              <a:rPr sz="1300" b="1">
                <a:solidFill>
                  <a:srgbClr val="028090"/>
                </a:solidFill>
                <a:latin typeface="Meiryo"/>
              </a:rPr>
              <a:t>共有台</a:t>
            </a:r>
          </a:p>
          <a:p>
            <a:pPr algn="ctr">
              <a:lnSpc>
                <a:spcPct val="140000"/>
              </a:lnSpc>
              <a:spcAft>
                <a:spcPts val="400"/>
              </a:spcAft>
            </a:pPr>
            <a:r>
              <a:rPr sz="1300" b="1">
                <a:solidFill>
                  <a:srgbClr val="028090"/>
                </a:solidFill>
                <a:latin typeface="Meiryo"/>
              </a:rPr>
              <a:t>（仕切りの上）</a:t>
            </a:r>
          </a:p>
          <a:p>
            <a:pPr algn="ctr">
              <a:lnSpc>
                <a:spcPct val="140000"/>
              </a:lnSpc>
              <a:spcAft>
                <a:spcPts val="400"/>
              </a:spcAft>
            </a:pPr>
            <a:r>
              <a:rPr sz="1300" b="1">
                <a:solidFill>
                  <a:srgbClr val="028090"/>
                </a:solidFill>
                <a:latin typeface="Meiryo"/>
              </a:rPr>
              <a:t>両側から使える</a:t>
            </a:r>
          </a:p>
        </p:txBody>
      </p:sp>
      <p:sp>
        <p:nvSpPr>
          <p:cNvPr id="11" name="Rounded Rectangle 10"/>
          <p:cNvSpPr/>
          <p:nvPr/>
        </p:nvSpPr>
        <p:spPr>
          <a:xfrm>
            <a:off x="7315200" y="1920240"/>
            <a:ext cx="4160520" cy="356616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589520" y="2121408"/>
            <a:ext cx="3611880" cy="365760"/>
          </a:xfrm>
          <a:prstGeom prst="rect">
            <a:avLst/>
          </a:prstGeom>
          <a:noFill/>
        </p:spPr>
        <p:txBody>
          <a:bodyPr wrap="square" lIns="0" rIns="0" tIns="0" bIns="0" anchor="t">
            <a:spAutoFit/>
          </a:bodyPr>
          <a:lstStyle/>
          <a:p>
            <a:pPr algn="l">
              <a:spcAft>
                <a:spcPts val="600"/>
              </a:spcAft>
            </a:pPr>
            <a:r>
              <a:rPr sz="1600" b="1">
                <a:solidFill>
                  <a:srgbClr val="028090"/>
                </a:solidFill>
                <a:latin typeface="Meiryo"/>
              </a:rPr>
              <a:t>人間 側（右）</a:t>
            </a:r>
          </a:p>
        </p:txBody>
      </p:sp>
      <p:sp>
        <p:nvSpPr>
          <p:cNvPr id="13" name="TextBox 12"/>
          <p:cNvSpPr txBox="1"/>
          <p:nvPr/>
        </p:nvSpPr>
        <p:spPr>
          <a:xfrm>
            <a:off x="7589520" y="2651760"/>
            <a:ext cx="3611880" cy="2651760"/>
          </a:xfrm>
          <a:prstGeom prst="rect">
            <a:avLst/>
          </a:prstGeom>
          <a:noFill/>
        </p:spPr>
        <p:txBody>
          <a:bodyPr wrap="square" lIns="0" rIns="0" tIns="0" bIns="0" anchor="t">
            <a:spAutoFit/>
          </a:bodyPr>
          <a:lstStyle/>
          <a:p>
            <a:pPr algn="l">
              <a:lnSpc>
                <a:spcPct val="150000"/>
              </a:lnSpc>
              <a:spcAft>
                <a:spcPts val="1000"/>
              </a:spcAft>
            </a:pPr>
            <a:r>
              <a:rPr sz="1400" b="0">
                <a:solidFill>
                  <a:srgbClr val="1A2E33"/>
                </a:solidFill>
                <a:latin typeface="Meiryo"/>
              </a:rPr>
              <a:t>具材　トマト・バナナ</a:t>
            </a:r>
          </a:p>
          <a:p>
            <a:pPr algn="l">
              <a:lnSpc>
                <a:spcPct val="150000"/>
              </a:lnSpc>
              <a:spcAft>
                <a:spcPts val="1000"/>
              </a:spcAft>
            </a:pPr>
            <a:r>
              <a:rPr sz="1400" b="0">
                <a:solidFill>
                  <a:srgbClr val="1A2E33"/>
                </a:solidFill>
                <a:latin typeface="Meiryo"/>
              </a:rPr>
              <a:t>設備　ミキサー・提供口</a:t>
            </a:r>
          </a:p>
          <a:p>
            <a:pPr algn="l">
              <a:lnSpc>
                <a:spcPct val="150000"/>
              </a:lnSpc>
              <a:spcAft>
                <a:spcPts val="1000"/>
              </a:spcAft>
            </a:pPr>
            <a:r>
              <a:rPr sz="1400" b="0">
                <a:solidFill>
                  <a:srgbClr val="1A2E33"/>
                </a:solidFill>
                <a:latin typeface="Meiryo"/>
              </a:rPr>
              <a:t>まな板　あり（1つだけ）</a:t>
            </a:r>
          </a:p>
        </p:txBody>
      </p:sp>
      <p:sp>
        <p:nvSpPr>
          <p:cNvPr id="14" name="TextBox 13"/>
          <p:cNvSpPr txBox="1"/>
          <p:nvPr/>
        </p:nvSpPr>
        <p:spPr>
          <a:xfrm>
            <a:off x="7589520" y="4709160"/>
            <a:ext cx="3611880" cy="640080"/>
          </a:xfrm>
          <a:prstGeom prst="rect">
            <a:avLst/>
          </a:prstGeom>
          <a:noFill/>
        </p:spPr>
        <p:txBody>
          <a:bodyPr wrap="square" lIns="0" rIns="0" tIns="0" bIns="0" anchor="t">
            <a:spAutoFit/>
          </a:bodyPr>
          <a:lstStyle/>
          <a:p>
            <a:pPr algn="l">
              <a:lnSpc>
                <a:spcPct val="130000"/>
              </a:lnSpc>
              <a:spcAft>
                <a:spcPts val="600"/>
              </a:spcAft>
            </a:pPr>
            <a:r>
              <a:rPr sz="1300" b="1">
                <a:solidFill>
                  <a:srgbClr val="D9534F"/>
                </a:solidFill>
                <a:latin typeface="Meiryo"/>
              </a:rPr>
              <a:t>切る作業は、すべてここでしかできない。</a:t>
            </a:r>
          </a:p>
        </p:txBody>
      </p:sp>
      <p:sp>
        <p:nvSpPr>
          <p:cNvPr id="15" name="TextBox 14"/>
          <p:cNvSpPr txBox="1"/>
          <p:nvPr/>
        </p:nvSpPr>
        <p:spPr>
          <a:xfrm>
            <a:off x="685800" y="5715000"/>
            <a:ext cx="10789920" cy="685800"/>
          </a:xfrm>
          <a:prstGeom prst="rect">
            <a:avLst/>
          </a:prstGeom>
          <a:noFill/>
        </p:spPr>
        <p:txBody>
          <a:bodyPr wrap="square" lIns="0" rIns="0" tIns="0" bIns="0" anchor="t">
            <a:spAutoFit/>
          </a:bodyPr>
          <a:lstStyle/>
          <a:p>
            <a:pPr algn="l">
              <a:lnSpc>
                <a:spcPct val="135000"/>
              </a:lnSpc>
              <a:spcAft>
                <a:spcPts val="600"/>
              </a:spcAft>
            </a:pPr>
            <a:r>
              <a:rPr sz="1400" b="0">
                <a:solidFill>
                  <a:srgbClr val="1A2E33"/>
                </a:solidFill>
                <a:latin typeface="Meiryo"/>
              </a:rPr>
              <a:t>だから AI は「材料を中央まで運ぶ」ことしかできず、人間が切らないと料理が進まない。互いに依存する状況が生まれる。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なぜ指示が「合う / 合わない」に分かれるのか</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3品のうちスープだけが全体の所要時間を決める。そこに全体最適と個人の都合の対立がある。</a:t>
            </a:r>
          </a:p>
        </p:txBody>
      </p:sp>
      <p:sp>
        <p:nvSpPr>
          <p:cNvPr id="5" name="Rounded Rectangle 4"/>
          <p:cNvSpPr/>
          <p:nvPr/>
        </p:nvSpPr>
        <p:spPr>
          <a:xfrm>
            <a:off x="685800" y="2011680"/>
            <a:ext cx="5257800" cy="320040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005840" y="2286000"/>
            <a:ext cx="548640" cy="54864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a:t>
            </a:r>
          </a:p>
        </p:txBody>
      </p:sp>
      <p:sp>
        <p:nvSpPr>
          <p:cNvPr id="7" name="TextBox 6"/>
          <p:cNvSpPr txBox="1"/>
          <p:nvPr/>
        </p:nvSpPr>
        <p:spPr>
          <a:xfrm>
            <a:off x="1783080" y="2395728"/>
            <a:ext cx="3931920" cy="411480"/>
          </a:xfrm>
          <a:prstGeom prst="rect">
            <a:avLst/>
          </a:prstGeom>
          <a:noFill/>
        </p:spPr>
        <p:txBody>
          <a:bodyPr wrap="square" lIns="0" rIns="0" tIns="0" bIns="0" anchor="t">
            <a:spAutoFit/>
          </a:bodyPr>
          <a:lstStyle/>
          <a:p>
            <a:pPr algn="l">
              <a:spcAft>
                <a:spcPts val="600"/>
              </a:spcAft>
            </a:pPr>
            <a:r>
              <a:rPr sz="1800" b="1">
                <a:solidFill>
                  <a:srgbClr val="028090"/>
                </a:solidFill>
                <a:latin typeface="Meiryo"/>
              </a:rPr>
              <a:t>スープを進める指示</a:t>
            </a:r>
          </a:p>
        </p:txBody>
      </p:sp>
      <p:sp>
        <p:nvSpPr>
          <p:cNvPr id="8" name="TextBox 7"/>
          <p:cNvSpPr txBox="1"/>
          <p:nvPr/>
        </p:nvSpPr>
        <p:spPr>
          <a:xfrm>
            <a:off x="1005840" y="3108960"/>
            <a:ext cx="4617720" cy="1920240"/>
          </a:xfrm>
          <a:prstGeom prst="rect">
            <a:avLst/>
          </a:prstGeom>
          <a:noFill/>
        </p:spPr>
        <p:txBody>
          <a:bodyPr wrap="square" lIns="0" rIns="0" tIns="0" bIns="0" anchor="t">
            <a:spAutoFit/>
          </a:bodyPr>
          <a:lstStyle/>
          <a:p>
            <a:pPr algn="l">
              <a:lnSpc>
                <a:spcPct val="140000"/>
              </a:lnSpc>
              <a:spcAft>
                <a:spcPts val="900"/>
              </a:spcAft>
            </a:pPr>
            <a:r>
              <a:rPr sz="1400" b="0">
                <a:solidFill>
                  <a:srgbClr val="1A2E33"/>
                </a:solidFill>
                <a:latin typeface="Meiryo"/>
              </a:rPr>
              <a:t>煮込みに15秒かかり、全体の所要時間を決めている。</a:t>
            </a:r>
          </a:p>
          <a:p>
            <a:pPr algn="l">
              <a:lnSpc>
                <a:spcPct val="140000"/>
              </a:lnSpc>
              <a:spcAft>
                <a:spcPts val="900"/>
              </a:spcAft>
            </a:pPr>
            <a:r>
              <a:rPr sz="1400" b="0">
                <a:solidFill>
                  <a:srgbClr val="1A2E33"/>
                </a:solidFill>
                <a:latin typeface="Meiryo"/>
              </a:rPr>
              <a:t>早く着手しないと全体が遅れる。</a:t>
            </a:r>
          </a:p>
          <a:p>
            <a:pPr algn="l">
              <a:lnSpc>
                <a:spcPct val="140000"/>
              </a:lnSpc>
              <a:spcAft>
                <a:spcPts val="900"/>
              </a:spcAft>
            </a:pPr>
            <a:r>
              <a:rPr sz="1400" b="0">
                <a:solidFill>
                  <a:srgbClr val="1A2E33"/>
                </a:solidFill>
                <a:latin typeface="Meiryo"/>
              </a:rPr>
              <a:t>AI の計画と一致するため、すぐ実行される。</a:t>
            </a:r>
          </a:p>
        </p:txBody>
      </p:sp>
      <p:sp>
        <p:nvSpPr>
          <p:cNvPr id="9" name="Rounded Rectangle 8"/>
          <p:cNvSpPr/>
          <p:nvPr/>
        </p:nvSpPr>
        <p:spPr>
          <a:xfrm>
            <a:off x="6263640" y="2011680"/>
            <a:ext cx="5212080" cy="320040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583680" y="2286000"/>
            <a:ext cx="548640" cy="548640"/>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a:t>
            </a:r>
          </a:p>
        </p:txBody>
      </p:sp>
      <p:sp>
        <p:nvSpPr>
          <p:cNvPr id="11" name="TextBox 10"/>
          <p:cNvSpPr txBox="1"/>
          <p:nvPr/>
        </p:nvSpPr>
        <p:spPr>
          <a:xfrm>
            <a:off x="7360920" y="2395728"/>
            <a:ext cx="3931920" cy="411480"/>
          </a:xfrm>
          <a:prstGeom prst="rect">
            <a:avLst/>
          </a:prstGeom>
          <a:noFill/>
        </p:spPr>
        <p:txBody>
          <a:bodyPr wrap="square" lIns="0" rIns="0" tIns="0" bIns="0" anchor="t">
            <a:spAutoFit/>
          </a:bodyPr>
          <a:lstStyle/>
          <a:p>
            <a:pPr algn="l">
              <a:spcAft>
                <a:spcPts val="600"/>
              </a:spcAft>
            </a:pPr>
            <a:r>
              <a:rPr sz="1800" b="1">
                <a:solidFill>
                  <a:srgbClr val="D9534F"/>
                </a:solidFill>
                <a:latin typeface="Meiryo"/>
              </a:rPr>
              <a:t>ジュースを進める指示</a:t>
            </a:r>
          </a:p>
        </p:txBody>
      </p:sp>
      <p:sp>
        <p:nvSpPr>
          <p:cNvPr id="12" name="TextBox 11"/>
          <p:cNvSpPr txBox="1"/>
          <p:nvPr/>
        </p:nvSpPr>
        <p:spPr>
          <a:xfrm>
            <a:off x="6583680" y="3108960"/>
            <a:ext cx="4572000" cy="1920240"/>
          </a:xfrm>
          <a:prstGeom prst="rect">
            <a:avLst/>
          </a:prstGeom>
          <a:noFill/>
        </p:spPr>
        <p:txBody>
          <a:bodyPr wrap="square" lIns="0" rIns="0" tIns="0" bIns="0" anchor="t">
            <a:spAutoFit/>
          </a:bodyPr>
          <a:lstStyle/>
          <a:p>
            <a:pPr algn="l">
              <a:lnSpc>
                <a:spcPct val="140000"/>
              </a:lnSpc>
              <a:spcAft>
                <a:spcPts val="900"/>
              </a:spcAft>
            </a:pPr>
            <a:r>
              <a:rPr sz="1400" b="0">
                <a:solidFill>
                  <a:srgbClr val="1A2E33"/>
                </a:solidFill>
                <a:latin typeface="Meiryo"/>
              </a:rPr>
              <a:t>人間側で完結しやすく、急ぐ必要がない。</a:t>
            </a:r>
          </a:p>
          <a:p>
            <a:pPr algn="l">
              <a:lnSpc>
                <a:spcPct val="140000"/>
              </a:lnSpc>
              <a:spcAft>
                <a:spcPts val="900"/>
              </a:spcAft>
            </a:pPr>
            <a:r>
              <a:rPr sz="1400" b="0">
                <a:solidFill>
                  <a:srgbClr val="1A2E33"/>
                </a:solidFill>
                <a:latin typeface="Meiryo"/>
              </a:rPr>
              <a:t>人にとっては「自分の作業を早く始めたい」</a:t>
            </a:r>
          </a:p>
          <a:p>
            <a:pPr algn="l">
              <a:lnSpc>
                <a:spcPct val="140000"/>
              </a:lnSpc>
              <a:spcAft>
                <a:spcPts val="900"/>
              </a:spcAft>
            </a:pPr>
            <a:r>
              <a:rPr sz="1400" b="0">
                <a:solidFill>
                  <a:srgbClr val="1A2E33"/>
                </a:solidFill>
                <a:latin typeface="Meiryo"/>
              </a:rPr>
              <a:t>という自然な要求。</a:t>
            </a:r>
          </a:p>
          <a:p>
            <a:pPr algn="l">
              <a:lnSpc>
                <a:spcPct val="140000"/>
              </a:lnSpc>
              <a:spcAft>
                <a:spcPts val="900"/>
              </a:spcAft>
            </a:pPr>
            <a:r>
              <a:rPr sz="1400" b="0">
                <a:solidFill>
                  <a:srgbClr val="1A2E33"/>
                </a:solidFill>
                <a:latin typeface="Meiryo"/>
              </a:rPr>
              <a:t>AI の計画とずれるため、後回しにされる。</a:t>
            </a:r>
          </a:p>
        </p:txBody>
      </p:sp>
      <p:sp>
        <p:nvSpPr>
          <p:cNvPr id="13" name="TextBox 12"/>
          <p:cNvSpPr txBox="1"/>
          <p:nvPr/>
        </p:nvSpPr>
        <p:spPr>
          <a:xfrm>
            <a:off x="685800" y="5577840"/>
            <a:ext cx="10789920" cy="822960"/>
          </a:xfrm>
          <a:prstGeom prst="rect">
            <a:avLst/>
          </a:prstGeom>
          <a:noFill/>
        </p:spPr>
        <p:txBody>
          <a:bodyPr wrap="square" lIns="0" rIns="0" tIns="0" bIns="0" anchor="t">
            <a:spAutoFit/>
          </a:bodyPr>
          <a:lstStyle/>
          <a:p>
            <a:pPr algn="l">
              <a:lnSpc>
                <a:spcPct val="135000"/>
              </a:lnSpc>
              <a:spcAft>
                <a:spcPts val="600"/>
              </a:spcAft>
            </a:pPr>
            <a:r>
              <a:rPr sz="1400" b="1">
                <a:solidFill>
                  <a:srgbClr val="1A2E33"/>
                </a:solidFill>
                <a:latin typeface="Meiryo"/>
              </a:rPr>
              <a:t>参加者にとっては、どちらも等しくまっとうな要求です。差が生まれるのは AI の計画にとってであり、それは参加者には見えません。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操作する条件：AI が指示を後回しにできる量</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「指示された作業に取りかかる前に、他の作業をいくつ挟んでよいか」を 0 / 2 / 4 で変える。</a:t>
            </a:r>
          </a:p>
        </p:txBody>
      </p:sp>
      <p:sp>
        <p:nvSpPr>
          <p:cNvPr id="5" name="Rounded Rectangle 4"/>
          <p:cNvSpPr/>
          <p:nvPr/>
        </p:nvSpPr>
        <p:spPr>
          <a:xfrm>
            <a:off x="685800" y="2103120"/>
            <a:ext cx="3429000" cy="292608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960120" y="2377440"/>
            <a:ext cx="777240" cy="77724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Meiryo"/>
              </a:rPr>
              <a:t>0</a:t>
            </a:r>
          </a:p>
        </p:txBody>
      </p:sp>
      <p:sp>
        <p:nvSpPr>
          <p:cNvPr id="7" name="TextBox 6"/>
          <p:cNvSpPr txBox="1"/>
          <p:nvPr/>
        </p:nvSpPr>
        <p:spPr>
          <a:xfrm>
            <a:off x="1920240" y="2578608"/>
            <a:ext cx="2011680" cy="411480"/>
          </a:xfrm>
          <a:prstGeom prst="rect">
            <a:avLst/>
          </a:prstGeom>
          <a:noFill/>
        </p:spPr>
        <p:txBody>
          <a:bodyPr wrap="square" lIns="0" rIns="0" tIns="0" bIns="0" anchor="t">
            <a:spAutoFit/>
          </a:bodyPr>
          <a:lstStyle/>
          <a:p>
            <a:pPr algn="l">
              <a:spcAft>
                <a:spcPts val="600"/>
              </a:spcAft>
            </a:pPr>
            <a:r>
              <a:rPr sz="1600" b="1">
                <a:solidFill>
                  <a:srgbClr val="028090"/>
                </a:solidFill>
                <a:latin typeface="Meiryo"/>
              </a:rPr>
              <a:t>すぐやる</a:t>
            </a:r>
          </a:p>
        </p:txBody>
      </p:sp>
      <p:sp>
        <p:nvSpPr>
          <p:cNvPr id="8" name="TextBox 7"/>
          <p:cNvSpPr txBox="1"/>
          <p:nvPr/>
        </p:nvSpPr>
        <p:spPr>
          <a:xfrm>
            <a:off x="960120" y="3520440"/>
            <a:ext cx="2880360" cy="1280160"/>
          </a:xfrm>
          <a:prstGeom prst="rect">
            <a:avLst/>
          </a:prstGeom>
          <a:noFill/>
        </p:spPr>
        <p:txBody>
          <a:bodyPr wrap="square" lIns="0" rIns="0" tIns="0" bIns="0" anchor="t">
            <a:spAutoFit/>
          </a:bodyPr>
          <a:lstStyle/>
          <a:p>
            <a:pPr algn="l">
              <a:lnSpc>
                <a:spcPct val="145000"/>
              </a:lnSpc>
              <a:spcAft>
                <a:spcPts val="600"/>
              </a:spcAft>
            </a:pPr>
            <a:r>
              <a:rPr sz="1350" b="0">
                <a:solidFill>
                  <a:srgbClr val="1A2E33"/>
                </a:solidFill>
                <a:latin typeface="Meiryo"/>
              </a:rPr>
              <a:t>他の作業を挟めない。指示は必ず最優先で実行される。</a:t>
            </a:r>
          </a:p>
        </p:txBody>
      </p:sp>
      <p:sp>
        <p:nvSpPr>
          <p:cNvPr id="9" name="Rounded Rectangle 8"/>
          <p:cNvSpPr/>
          <p:nvPr/>
        </p:nvSpPr>
        <p:spPr>
          <a:xfrm>
            <a:off x="4389120" y="2103120"/>
            <a:ext cx="3429000" cy="292608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663440" y="2377440"/>
            <a:ext cx="777240" cy="77724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Meiryo"/>
              </a:rPr>
              <a:t>2</a:t>
            </a:r>
          </a:p>
        </p:txBody>
      </p:sp>
      <p:sp>
        <p:nvSpPr>
          <p:cNvPr id="11" name="TextBox 10"/>
          <p:cNvSpPr txBox="1"/>
          <p:nvPr/>
        </p:nvSpPr>
        <p:spPr>
          <a:xfrm>
            <a:off x="5623560" y="2578608"/>
            <a:ext cx="2011680" cy="411480"/>
          </a:xfrm>
          <a:prstGeom prst="rect">
            <a:avLst/>
          </a:prstGeom>
          <a:noFill/>
        </p:spPr>
        <p:txBody>
          <a:bodyPr wrap="square" lIns="0" rIns="0" tIns="0" bIns="0" anchor="t">
            <a:spAutoFit/>
          </a:bodyPr>
          <a:lstStyle/>
          <a:p>
            <a:pPr algn="l">
              <a:spcAft>
                <a:spcPts val="600"/>
              </a:spcAft>
            </a:pPr>
            <a:r>
              <a:rPr sz="1600" b="1">
                <a:solidFill>
                  <a:srgbClr val="00A896"/>
                </a:solidFill>
                <a:latin typeface="Meiryo"/>
              </a:rPr>
              <a:t>すこし後回し</a:t>
            </a:r>
          </a:p>
        </p:txBody>
      </p:sp>
      <p:sp>
        <p:nvSpPr>
          <p:cNvPr id="12" name="TextBox 11"/>
          <p:cNvSpPr txBox="1"/>
          <p:nvPr/>
        </p:nvSpPr>
        <p:spPr>
          <a:xfrm>
            <a:off x="4663440" y="3520440"/>
            <a:ext cx="2880360" cy="1280160"/>
          </a:xfrm>
          <a:prstGeom prst="rect">
            <a:avLst/>
          </a:prstGeom>
          <a:noFill/>
        </p:spPr>
        <p:txBody>
          <a:bodyPr wrap="square" lIns="0" rIns="0" tIns="0" bIns="0" anchor="t">
            <a:spAutoFit/>
          </a:bodyPr>
          <a:lstStyle/>
          <a:p>
            <a:pPr algn="l">
              <a:lnSpc>
                <a:spcPct val="145000"/>
              </a:lnSpc>
              <a:spcAft>
                <a:spcPts val="600"/>
              </a:spcAft>
            </a:pPr>
            <a:r>
              <a:rPr sz="1350" b="0">
                <a:solidFill>
                  <a:srgbClr val="1A2E33"/>
                </a:solidFill>
                <a:latin typeface="Meiryo"/>
              </a:rPr>
              <a:t>他の作業を2つまで挟める。指示は3番目あたりに落ちる。</a:t>
            </a:r>
          </a:p>
        </p:txBody>
      </p:sp>
      <p:sp>
        <p:nvSpPr>
          <p:cNvPr id="13" name="Rounded Rectangle 12"/>
          <p:cNvSpPr/>
          <p:nvPr/>
        </p:nvSpPr>
        <p:spPr>
          <a:xfrm>
            <a:off x="8092440" y="2103120"/>
            <a:ext cx="3429000" cy="292608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8366760" y="2377440"/>
            <a:ext cx="777240" cy="777240"/>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Meiryo"/>
              </a:rPr>
              <a:t>4</a:t>
            </a:r>
          </a:p>
        </p:txBody>
      </p:sp>
      <p:sp>
        <p:nvSpPr>
          <p:cNvPr id="15" name="TextBox 14"/>
          <p:cNvSpPr txBox="1"/>
          <p:nvPr/>
        </p:nvSpPr>
        <p:spPr>
          <a:xfrm>
            <a:off x="9326880" y="2578608"/>
            <a:ext cx="2011680" cy="411480"/>
          </a:xfrm>
          <a:prstGeom prst="rect">
            <a:avLst/>
          </a:prstGeom>
          <a:noFill/>
        </p:spPr>
        <p:txBody>
          <a:bodyPr wrap="square" lIns="0" rIns="0" tIns="0" bIns="0" anchor="t">
            <a:spAutoFit/>
          </a:bodyPr>
          <a:lstStyle/>
          <a:p>
            <a:pPr algn="l">
              <a:spcAft>
                <a:spcPts val="600"/>
              </a:spcAft>
            </a:pPr>
            <a:r>
              <a:rPr sz="1600" b="1">
                <a:solidFill>
                  <a:srgbClr val="D9534F"/>
                </a:solidFill>
                <a:latin typeface="Meiryo"/>
              </a:rPr>
              <a:t>かなり後回し</a:t>
            </a:r>
          </a:p>
        </p:txBody>
      </p:sp>
      <p:sp>
        <p:nvSpPr>
          <p:cNvPr id="16" name="TextBox 15"/>
          <p:cNvSpPr txBox="1"/>
          <p:nvPr/>
        </p:nvSpPr>
        <p:spPr>
          <a:xfrm>
            <a:off x="8366760" y="3520440"/>
            <a:ext cx="2880360" cy="1280160"/>
          </a:xfrm>
          <a:prstGeom prst="rect">
            <a:avLst/>
          </a:prstGeom>
          <a:noFill/>
        </p:spPr>
        <p:txBody>
          <a:bodyPr wrap="square" lIns="0" rIns="0" tIns="0" bIns="0" anchor="t">
            <a:spAutoFit/>
          </a:bodyPr>
          <a:lstStyle/>
          <a:p>
            <a:pPr algn="l">
              <a:lnSpc>
                <a:spcPct val="145000"/>
              </a:lnSpc>
              <a:spcAft>
                <a:spcPts val="600"/>
              </a:spcAft>
            </a:pPr>
            <a:r>
              <a:rPr sz="1350" b="0">
                <a:solidFill>
                  <a:srgbClr val="1A2E33"/>
                </a:solidFill>
                <a:latin typeface="Meiryo"/>
              </a:rPr>
              <a:t>他の作業を4つまで挟める。指示しない場合とほぼ同じ順序になる。</a:t>
            </a:r>
          </a:p>
        </p:txBody>
      </p:sp>
      <p:sp>
        <p:nvSpPr>
          <p:cNvPr id="17" name="TextBox 16"/>
          <p:cNvSpPr txBox="1"/>
          <p:nvPr/>
        </p:nvSpPr>
        <p:spPr>
          <a:xfrm>
            <a:off x="685800" y="5440680"/>
            <a:ext cx="10789920" cy="822960"/>
          </a:xfrm>
          <a:prstGeom prst="rect">
            <a:avLst/>
          </a:prstGeom>
          <a:noFill/>
        </p:spPr>
        <p:txBody>
          <a:bodyPr wrap="square" lIns="0" rIns="0" tIns="0" bIns="0" anchor="t">
            <a:spAutoFit/>
          </a:bodyPr>
          <a:lstStyle/>
          <a:p>
            <a:pPr algn="l">
              <a:lnSpc>
                <a:spcPct val="135000"/>
              </a:lnSpc>
              <a:spcAft>
                <a:spcPts val="600"/>
              </a:spcAft>
            </a:pPr>
            <a:r>
              <a:rPr sz="1400" b="0">
                <a:solidFill>
                  <a:srgbClr val="1A2E33"/>
                </a:solidFill>
                <a:latin typeface="Meiryo"/>
              </a:rPr>
              <a:t>秒数ではなく「作業の個数」で決めます。移動距離や作業の重さで体感時間がばらつくのを避けるためです。また、その指示に必要な前準備は数えません。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何を測るか</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主役は「体験」。効率は、対抗する説明を潰すために測ります。</a:t>
            </a:r>
          </a:p>
        </p:txBody>
      </p:sp>
      <p:sp>
        <p:nvSpPr>
          <p:cNvPr id="5" name="Rounded Rectangle 4"/>
          <p:cNvSpPr/>
          <p:nvPr/>
        </p:nvSpPr>
        <p:spPr>
          <a:xfrm>
            <a:off x="685800" y="2011680"/>
            <a:ext cx="5257800" cy="3566160"/>
          </a:xfrm>
          <a:prstGeom prst="roundRect">
            <a:avLst>
              <a:gd name="adj" fmla="val 8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005840" y="2286000"/>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主</a:t>
            </a:r>
          </a:p>
        </p:txBody>
      </p:sp>
      <p:sp>
        <p:nvSpPr>
          <p:cNvPr id="7" name="TextBox 6"/>
          <p:cNvSpPr txBox="1"/>
          <p:nvPr/>
        </p:nvSpPr>
        <p:spPr>
          <a:xfrm>
            <a:off x="1810512" y="2404872"/>
            <a:ext cx="3840480" cy="411480"/>
          </a:xfrm>
          <a:prstGeom prst="rect">
            <a:avLst/>
          </a:prstGeom>
          <a:noFill/>
        </p:spPr>
        <p:txBody>
          <a:bodyPr wrap="square" lIns="0" rIns="0" tIns="0" bIns="0" anchor="t">
            <a:spAutoFit/>
          </a:bodyPr>
          <a:lstStyle/>
          <a:p>
            <a:pPr algn="l">
              <a:spcAft>
                <a:spcPts val="600"/>
              </a:spcAft>
            </a:pPr>
            <a:r>
              <a:rPr sz="1800" b="1">
                <a:solidFill>
                  <a:srgbClr val="028090"/>
                </a:solidFill>
                <a:latin typeface="Meiryo"/>
              </a:rPr>
              <a:t>体験（アンケート）</a:t>
            </a:r>
          </a:p>
        </p:txBody>
      </p:sp>
      <p:sp>
        <p:nvSpPr>
          <p:cNvPr id="8" name="TextBox 7"/>
          <p:cNvSpPr txBox="1"/>
          <p:nvPr/>
        </p:nvSpPr>
        <p:spPr>
          <a:xfrm>
            <a:off x="1005840" y="3154680"/>
            <a:ext cx="4617720" cy="2194560"/>
          </a:xfrm>
          <a:prstGeom prst="rect">
            <a:avLst/>
          </a:prstGeom>
          <a:noFill/>
        </p:spPr>
        <p:txBody>
          <a:bodyPr wrap="square" lIns="0" rIns="0" tIns="0" bIns="0" anchor="t">
            <a:spAutoFit/>
          </a:bodyPr>
          <a:lstStyle/>
          <a:p>
            <a:pPr algn="l">
              <a:lnSpc>
                <a:spcPct val="145000"/>
              </a:lnSpc>
              <a:spcAft>
                <a:spcPts val="700"/>
              </a:spcAft>
            </a:pPr>
            <a:r>
              <a:rPr sz="1400" b="0">
                <a:solidFill>
                  <a:srgbClr val="1A2E33"/>
                </a:solidFill>
                <a:latin typeface="Meiryo"/>
              </a:rPr>
              <a:t>協調感　CCR スケール（6項目）</a:t>
            </a:r>
          </a:p>
          <a:p>
            <a:pPr algn="l">
              <a:lnSpc>
                <a:spcPct val="145000"/>
              </a:lnSpc>
              <a:spcAft>
                <a:spcPts val="700"/>
              </a:spcAft>
            </a:pPr>
            <a:r>
              <a:rPr sz="1400" b="0">
                <a:solidFill>
                  <a:srgbClr val="1A2E33"/>
                </a:solidFill>
                <a:latin typeface="Meiryo"/>
              </a:rPr>
              <a:t>信頼感　MDMT スケール（8項目）</a:t>
            </a:r>
          </a:p>
          <a:p>
            <a:pPr algn="l">
              <a:lnSpc>
                <a:spcPct val="145000"/>
              </a:lnSpc>
              <a:spcAft>
                <a:spcPts val="700"/>
              </a:spcAft>
            </a:pPr>
            <a:r>
              <a:rPr sz="1400" b="0">
                <a:solidFill>
                  <a:srgbClr val="1A2E33"/>
                </a:solidFill>
                <a:latin typeface="Meiryo"/>
              </a:rPr>
              <a:t/>
            </a:r>
          </a:p>
          <a:p>
            <a:pPr algn="l">
              <a:lnSpc>
                <a:spcPct val="145000"/>
              </a:lnSpc>
              <a:spcAft>
                <a:spcPts val="700"/>
              </a:spcAft>
            </a:pPr>
            <a:r>
              <a:rPr sz="1400" b="0">
                <a:solidFill>
                  <a:srgbClr val="1A2E33"/>
                </a:solidFill>
                <a:latin typeface="Meiryo"/>
              </a:rPr>
              <a:t>各セッション終了直後に回答。所要1分。</a:t>
            </a:r>
          </a:p>
        </p:txBody>
      </p:sp>
      <p:sp>
        <p:nvSpPr>
          <p:cNvPr id="9" name="Rounded Rectangle 8"/>
          <p:cNvSpPr/>
          <p:nvPr/>
        </p:nvSpPr>
        <p:spPr>
          <a:xfrm>
            <a:off x="6263640" y="2011680"/>
            <a:ext cx="5212080" cy="356616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583680" y="2286000"/>
            <a:ext cx="566928" cy="566928"/>
          </a:xfrm>
          <a:prstGeom prst="ellipse">
            <a:avLst/>
          </a:prstGeom>
          <a:solidFill>
            <a:srgbClr val="6B7C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客</a:t>
            </a:r>
          </a:p>
        </p:txBody>
      </p:sp>
      <p:sp>
        <p:nvSpPr>
          <p:cNvPr id="11" name="TextBox 10"/>
          <p:cNvSpPr txBox="1"/>
          <p:nvPr/>
        </p:nvSpPr>
        <p:spPr>
          <a:xfrm>
            <a:off x="7388352" y="2404872"/>
            <a:ext cx="3840480" cy="411480"/>
          </a:xfrm>
          <a:prstGeom prst="rect">
            <a:avLst/>
          </a:prstGeom>
          <a:noFill/>
        </p:spPr>
        <p:txBody>
          <a:bodyPr wrap="square" lIns="0" rIns="0" tIns="0" bIns="0" anchor="t">
            <a:spAutoFit/>
          </a:bodyPr>
          <a:lstStyle/>
          <a:p>
            <a:pPr algn="l">
              <a:spcAft>
                <a:spcPts val="600"/>
              </a:spcAft>
            </a:pPr>
            <a:r>
              <a:rPr sz="1800" b="1">
                <a:solidFill>
                  <a:srgbClr val="1A2E33"/>
                </a:solidFill>
                <a:latin typeface="Meiryo"/>
              </a:rPr>
              <a:t>客観データ（自動記録）</a:t>
            </a:r>
          </a:p>
        </p:txBody>
      </p:sp>
      <p:sp>
        <p:nvSpPr>
          <p:cNvPr id="12" name="TextBox 11"/>
          <p:cNvSpPr txBox="1"/>
          <p:nvPr/>
        </p:nvSpPr>
        <p:spPr>
          <a:xfrm>
            <a:off x="6583680" y="3154680"/>
            <a:ext cx="4572000" cy="2194560"/>
          </a:xfrm>
          <a:prstGeom prst="rect">
            <a:avLst/>
          </a:prstGeom>
          <a:noFill/>
        </p:spPr>
        <p:txBody>
          <a:bodyPr wrap="square" lIns="0" rIns="0" tIns="0" bIns="0" anchor="t">
            <a:spAutoFit/>
          </a:bodyPr>
          <a:lstStyle/>
          <a:p>
            <a:pPr algn="l">
              <a:lnSpc>
                <a:spcPct val="145000"/>
              </a:lnSpc>
              <a:spcAft>
                <a:spcPts val="700"/>
              </a:spcAft>
            </a:pPr>
            <a:r>
              <a:rPr sz="1400" b="0">
                <a:solidFill>
                  <a:srgbClr val="1A2E33"/>
                </a:solidFill>
                <a:latin typeface="Meiryo"/>
              </a:rPr>
              <a:t>指示してから着手までの待ち時間</a:t>
            </a:r>
          </a:p>
          <a:p>
            <a:pPr algn="l">
              <a:lnSpc>
                <a:spcPct val="145000"/>
              </a:lnSpc>
              <a:spcAft>
                <a:spcPts val="700"/>
              </a:spcAft>
            </a:pPr>
            <a:r>
              <a:rPr sz="1400" b="0">
                <a:solidFill>
                  <a:srgbClr val="1A2E33"/>
                </a:solidFill>
                <a:latin typeface="Meiryo"/>
              </a:rPr>
              <a:t>指示された作業が何番目に実行されたか</a:t>
            </a:r>
          </a:p>
          <a:p>
            <a:pPr algn="l">
              <a:lnSpc>
                <a:spcPct val="145000"/>
              </a:lnSpc>
              <a:spcAft>
                <a:spcPts val="700"/>
              </a:spcAft>
            </a:pPr>
            <a:r>
              <a:rPr sz="1400" b="0">
                <a:solidFill>
                  <a:srgbClr val="1A2E33"/>
                </a:solidFill>
                <a:latin typeface="Meiryo"/>
              </a:rPr>
              <a:t>待っている間に AI がこなした他の作業</a:t>
            </a:r>
          </a:p>
          <a:p>
            <a:pPr algn="l">
              <a:lnSpc>
                <a:spcPct val="145000"/>
              </a:lnSpc>
              <a:spcAft>
                <a:spcPts val="700"/>
              </a:spcAft>
            </a:pPr>
            <a:r>
              <a:rPr sz="1400" b="0">
                <a:solidFill>
                  <a:srgbClr val="1A2E33"/>
                </a:solidFill>
                <a:latin typeface="Meiryo"/>
              </a:rPr>
              <a:t>3品完成までの所要時間</a:t>
            </a:r>
          </a:p>
        </p:txBody>
      </p:sp>
      <p:sp>
        <p:nvSpPr>
          <p:cNvPr id="13" name="TextBox 12"/>
          <p:cNvSpPr txBox="1"/>
          <p:nvPr/>
        </p:nvSpPr>
        <p:spPr>
          <a:xfrm>
            <a:off x="685800" y="5806440"/>
            <a:ext cx="10789920" cy="548640"/>
          </a:xfrm>
          <a:prstGeom prst="rect">
            <a:avLst/>
          </a:prstGeom>
          <a:noFill/>
        </p:spPr>
        <p:txBody>
          <a:bodyPr wrap="square" lIns="0" rIns="0" tIns="0" bIns="0" anchor="t">
            <a:spAutoFit/>
          </a:bodyPr>
          <a:lstStyle/>
          <a:p>
            <a:pPr algn="l">
              <a:spcAft>
                <a:spcPts val="600"/>
              </a:spcAft>
            </a:pPr>
            <a:r>
              <a:rPr sz="1500" b="1">
                <a:solidFill>
                  <a:srgbClr val="028090"/>
                </a:solidFill>
                <a:latin typeface="Meiryo"/>
              </a:rPr>
              <a:t>仮説：後回しの量が小さすぎても大きすぎても体験は悪くなる（逆U字）。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ここまでにやったこと：環境を実験に使える状態にする</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人に見せる前に、シミュレーションで環境が壊れていないかを徹底的に確かめました。</a:t>
            </a:r>
          </a:p>
        </p:txBody>
      </p:sp>
      <p:sp>
        <p:nvSpPr>
          <p:cNvPr id="5" name="Rounded Rectangle 4"/>
          <p:cNvSpPr/>
          <p:nvPr/>
        </p:nvSpPr>
        <p:spPr>
          <a:xfrm>
            <a:off x="685800" y="2011680"/>
            <a:ext cx="10789920" cy="118872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60120" y="2286000"/>
            <a:ext cx="2514600" cy="640080"/>
          </a:xfrm>
          <a:prstGeom prst="rect">
            <a:avLst/>
          </a:prstGeom>
          <a:noFill/>
        </p:spPr>
        <p:txBody>
          <a:bodyPr wrap="square" lIns="0" rIns="0" tIns="0" bIns="0" anchor="t">
            <a:spAutoFit/>
          </a:bodyPr>
          <a:lstStyle/>
          <a:p>
            <a:pPr algn="l">
              <a:spcAft>
                <a:spcPts val="600"/>
              </a:spcAft>
            </a:pPr>
            <a:r>
              <a:rPr sz="2500" b="1">
                <a:solidFill>
                  <a:srgbClr val="028090"/>
                </a:solidFill>
                <a:latin typeface="Meiryo"/>
              </a:rPr>
              <a:t>17件</a:t>
            </a:r>
          </a:p>
        </p:txBody>
      </p:sp>
      <p:sp>
        <p:nvSpPr>
          <p:cNvPr id="7" name="TextBox 6"/>
          <p:cNvSpPr txBox="1"/>
          <p:nvPr/>
        </p:nvSpPr>
        <p:spPr>
          <a:xfrm>
            <a:off x="3657600" y="2176272"/>
            <a:ext cx="2651760" cy="365760"/>
          </a:xfrm>
          <a:prstGeom prst="rect">
            <a:avLst/>
          </a:prstGeom>
          <a:noFill/>
        </p:spPr>
        <p:txBody>
          <a:bodyPr wrap="square" lIns="0" rIns="0" tIns="0" bIns="0" anchor="t">
            <a:spAutoFit/>
          </a:bodyPr>
          <a:lstStyle/>
          <a:p>
            <a:pPr algn="l">
              <a:spcAft>
                <a:spcPts val="600"/>
              </a:spcAft>
            </a:pPr>
            <a:r>
              <a:rPr sz="1400" b="1">
                <a:solidFill>
                  <a:srgbClr val="1A2E33"/>
                </a:solidFill>
                <a:latin typeface="Meiryo"/>
              </a:rPr>
              <a:t>実装の不具合を修正</a:t>
            </a:r>
          </a:p>
        </p:txBody>
      </p:sp>
      <p:sp>
        <p:nvSpPr>
          <p:cNvPr id="8" name="TextBox 7"/>
          <p:cNvSpPr txBox="1"/>
          <p:nvPr/>
        </p:nvSpPr>
        <p:spPr>
          <a:xfrm>
            <a:off x="3657600" y="2578608"/>
            <a:ext cx="7589520" cy="548640"/>
          </a:xfrm>
          <a:prstGeom prst="rect">
            <a:avLst/>
          </a:prstGeom>
          <a:noFill/>
        </p:spPr>
        <p:txBody>
          <a:bodyPr wrap="square" lIns="0" rIns="0" tIns="0" bIns="0" anchor="t">
            <a:spAutoFit/>
          </a:bodyPr>
          <a:lstStyle/>
          <a:p>
            <a:pPr algn="l">
              <a:lnSpc>
                <a:spcPct val="130000"/>
              </a:lnSpc>
              <a:spcAft>
                <a:spcPts val="600"/>
              </a:spcAft>
            </a:pPr>
            <a:r>
              <a:rPr sz="1250" b="0">
                <a:solidFill>
                  <a:srgbClr val="6B7C80"/>
                </a:solidFill>
                <a:latin typeface="Meiryo"/>
              </a:rPr>
              <a:t>大半が同じ系統。「世界に問い合わせれば分かること」を、名前や配列の位置から推測していた箇所。</a:t>
            </a:r>
          </a:p>
        </p:txBody>
      </p:sp>
      <p:sp>
        <p:nvSpPr>
          <p:cNvPr id="9" name="Rounded Rectangle 8"/>
          <p:cNvSpPr/>
          <p:nvPr/>
        </p:nvSpPr>
        <p:spPr>
          <a:xfrm>
            <a:off x="685800" y="3410712"/>
            <a:ext cx="10789920" cy="118872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3685032"/>
            <a:ext cx="2514600" cy="640080"/>
          </a:xfrm>
          <a:prstGeom prst="rect">
            <a:avLst/>
          </a:prstGeom>
          <a:noFill/>
        </p:spPr>
        <p:txBody>
          <a:bodyPr wrap="square" lIns="0" rIns="0" tIns="0" bIns="0" anchor="t">
            <a:spAutoFit/>
          </a:bodyPr>
          <a:lstStyle/>
          <a:p>
            <a:pPr algn="l">
              <a:spcAft>
                <a:spcPts val="600"/>
              </a:spcAft>
            </a:pPr>
            <a:r>
              <a:rPr sz="2500" b="1">
                <a:solidFill>
                  <a:srgbClr val="028090"/>
                </a:solidFill>
                <a:latin typeface="Meiryo"/>
              </a:rPr>
              <a:t>37% → 100%</a:t>
            </a:r>
          </a:p>
        </p:txBody>
      </p:sp>
      <p:sp>
        <p:nvSpPr>
          <p:cNvPr id="11" name="TextBox 10"/>
          <p:cNvSpPr txBox="1"/>
          <p:nvPr/>
        </p:nvSpPr>
        <p:spPr>
          <a:xfrm>
            <a:off x="3657600" y="3575304"/>
            <a:ext cx="2651760" cy="365760"/>
          </a:xfrm>
          <a:prstGeom prst="rect">
            <a:avLst/>
          </a:prstGeom>
          <a:noFill/>
        </p:spPr>
        <p:txBody>
          <a:bodyPr wrap="square" lIns="0" rIns="0" tIns="0" bIns="0" anchor="t">
            <a:spAutoFit/>
          </a:bodyPr>
          <a:lstStyle/>
          <a:p>
            <a:pPr algn="l">
              <a:spcAft>
                <a:spcPts val="600"/>
              </a:spcAft>
            </a:pPr>
            <a:r>
              <a:rPr sz="1400" b="1">
                <a:solidFill>
                  <a:srgbClr val="1A2E33"/>
                </a:solidFill>
                <a:latin typeface="Meiryo"/>
              </a:rPr>
              <a:t>料理を完成できた割合</a:t>
            </a:r>
          </a:p>
        </p:txBody>
      </p:sp>
      <p:sp>
        <p:nvSpPr>
          <p:cNvPr id="12" name="TextBox 11"/>
          <p:cNvSpPr txBox="1"/>
          <p:nvPr/>
        </p:nvSpPr>
        <p:spPr>
          <a:xfrm>
            <a:off x="3657600" y="3977640"/>
            <a:ext cx="7589520" cy="548640"/>
          </a:xfrm>
          <a:prstGeom prst="rect">
            <a:avLst/>
          </a:prstGeom>
          <a:noFill/>
        </p:spPr>
        <p:txBody>
          <a:bodyPr wrap="square" lIns="0" rIns="0" tIns="0" bIns="0" anchor="t">
            <a:spAutoFit/>
          </a:bodyPr>
          <a:lstStyle/>
          <a:p>
            <a:pPr algn="l">
              <a:lnSpc>
                <a:spcPct val="130000"/>
              </a:lnSpc>
              <a:spcAft>
                <a:spcPts val="600"/>
              </a:spcAft>
            </a:pPr>
            <a:r>
              <a:rPr sz="1250" b="0">
                <a:solidFill>
                  <a:srgbClr val="6B7C80"/>
                </a:solidFill>
                <a:latin typeface="Meiryo"/>
              </a:rPr>
              <a:t>当初は6割の試行が時間切れ。時間切れは条件に偏っており、そのままでは条件間の比較が成立しなかった。</a:t>
            </a:r>
          </a:p>
        </p:txBody>
      </p:sp>
      <p:sp>
        <p:nvSpPr>
          <p:cNvPr id="13" name="Rounded Rectangle 12"/>
          <p:cNvSpPr/>
          <p:nvPr/>
        </p:nvSpPr>
        <p:spPr>
          <a:xfrm>
            <a:off x="685800" y="4809744"/>
            <a:ext cx="10789920" cy="118872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5084064"/>
            <a:ext cx="2514600" cy="640080"/>
          </a:xfrm>
          <a:prstGeom prst="rect">
            <a:avLst/>
          </a:prstGeom>
          <a:noFill/>
        </p:spPr>
        <p:txBody>
          <a:bodyPr wrap="square" lIns="0" rIns="0" tIns="0" bIns="0" anchor="t">
            <a:spAutoFit/>
          </a:bodyPr>
          <a:lstStyle/>
          <a:p>
            <a:pPr algn="l">
              <a:spcAft>
                <a:spcPts val="600"/>
              </a:spcAft>
            </a:pPr>
            <a:r>
              <a:rPr sz="2500" b="1">
                <a:solidFill>
                  <a:srgbClr val="028090"/>
                </a:solidFill>
                <a:latin typeface="Meiryo"/>
              </a:rPr>
              <a:t>39件 → 0件</a:t>
            </a:r>
          </a:p>
        </p:txBody>
      </p:sp>
      <p:sp>
        <p:nvSpPr>
          <p:cNvPr id="15" name="TextBox 14"/>
          <p:cNvSpPr txBox="1"/>
          <p:nvPr/>
        </p:nvSpPr>
        <p:spPr>
          <a:xfrm>
            <a:off x="3657600" y="4974336"/>
            <a:ext cx="2651760" cy="365760"/>
          </a:xfrm>
          <a:prstGeom prst="rect">
            <a:avLst/>
          </a:prstGeom>
          <a:noFill/>
        </p:spPr>
        <p:txBody>
          <a:bodyPr wrap="square" lIns="0" rIns="0" tIns="0" bIns="0" anchor="t">
            <a:spAutoFit/>
          </a:bodyPr>
          <a:lstStyle/>
          <a:p>
            <a:pPr algn="l">
              <a:spcAft>
                <a:spcPts val="600"/>
              </a:spcAft>
            </a:pPr>
            <a:r>
              <a:rPr sz="1400" b="1">
                <a:solidFill>
                  <a:srgbClr val="1A2E33"/>
                </a:solidFill>
                <a:latin typeface="Meiryo"/>
              </a:rPr>
              <a:t>2人とも動かない時間</a:t>
            </a:r>
          </a:p>
        </p:txBody>
      </p:sp>
      <p:sp>
        <p:nvSpPr>
          <p:cNvPr id="16" name="TextBox 15"/>
          <p:cNvSpPr txBox="1"/>
          <p:nvPr/>
        </p:nvSpPr>
        <p:spPr>
          <a:xfrm>
            <a:off x="3657600" y="5376672"/>
            <a:ext cx="7589520" cy="548640"/>
          </a:xfrm>
          <a:prstGeom prst="rect">
            <a:avLst/>
          </a:prstGeom>
          <a:noFill/>
        </p:spPr>
        <p:txBody>
          <a:bodyPr wrap="square" lIns="0" rIns="0" tIns="0" bIns="0" anchor="t">
            <a:spAutoFit/>
          </a:bodyPr>
          <a:lstStyle/>
          <a:p>
            <a:pPr algn="l">
              <a:lnSpc>
                <a:spcPct val="130000"/>
              </a:lnSpc>
              <a:spcAft>
                <a:spcPts val="600"/>
              </a:spcAft>
            </a:pPr>
            <a:r>
              <a:rPr sz="1250" b="0">
                <a:solidFill>
                  <a:srgbClr val="6B7C80"/>
                </a:solidFill>
                <a:latin typeface="Meiryo"/>
              </a:rPr>
              <a:t>完走はするが両者が最大23秒立ち尽くす試行があった。完走率だけを見ていては気づけなかった。</a:t>
            </a:r>
          </a:p>
        </p:txBody>
      </p:sp>
      <p:sp>
        <p:nvSpPr>
          <p:cNvPr id="17" name="TextBox 16"/>
          <p:cNvSpPr txBox="1"/>
          <p:nvPr/>
        </p:nvSpPr>
        <p:spPr>
          <a:xfrm>
            <a:off x="685800" y="6309360"/>
            <a:ext cx="10789920" cy="411480"/>
          </a:xfrm>
          <a:prstGeom prst="rect">
            <a:avLst/>
          </a:prstGeom>
          <a:noFill/>
        </p:spPr>
        <p:txBody>
          <a:bodyPr wrap="square" lIns="0" rIns="0" tIns="0" bIns="0" anchor="t">
            <a:spAutoFit/>
          </a:bodyPr>
          <a:lstStyle/>
          <a:p>
            <a:pPr algn="l">
              <a:spcAft>
                <a:spcPts val="600"/>
              </a:spcAft>
            </a:pPr>
            <a:r>
              <a:rPr sz="1300" b="0">
                <a:solidFill>
                  <a:srgbClr val="6B7C80"/>
                </a:solidFill>
                <a:latin typeface="Meiryo"/>
              </a:rPr>
              <a:t>不具合は、左右を仕切ったキッチンに変えたときに一斉に表面化しました。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10789920" cy="640080"/>
          </a:xfrm>
          <a:prstGeom prst="rect">
            <a:avLst/>
          </a:prstGeom>
          <a:noFill/>
        </p:spPr>
        <p:txBody>
          <a:bodyPr wrap="square" lIns="0" rIns="0" tIns="0" bIns="0" anchor="t">
            <a:spAutoFit/>
          </a:bodyPr>
          <a:lstStyle/>
          <a:p>
            <a:pPr algn="l">
              <a:spcAft>
                <a:spcPts val="600"/>
              </a:spcAft>
            </a:pPr>
            <a:r>
              <a:rPr sz="3200" b="1">
                <a:solidFill>
                  <a:srgbClr val="FFFFFF"/>
                </a:solidFill>
                <a:latin typeface="Meiryo"/>
              </a:rPr>
              <a:t>現在の環境の状態</a:t>
            </a:r>
          </a:p>
        </p:txBody>
      </p:sp>
      <p:sp>
        <p:nvSpPr>
          <p:cNvPr id="4" name="TextBox 3"/>
          <p:cNvSpPr txBox="1"/>
          <p:nvPr/>
        </p:nvSpPr>
        <p:spPr>
          <a:xfrm>
            <a:off x="685800" y="1417320"/>
            <a:ext cx="10789920" cy="457200"/>
          </a:xfrm>
          <a:prstGeom prst="rect">
            <a:avLst/>
          </a:prstGeom>
          <a:noFill/>
        </p:spPr>
        <p:txBody>
          <a:bodyPr wrap="square" lIns="0" rIns="0" tIns="0" bIns="0" anchor="t">
            <a:spAutoFit/>
          </a:bodyPr>
          <a:lstStyle/>
          <a:p>
            <a:pPr algn="l">
              <a:spcAft>
                <a:spcPts val="600"/>
              </a:spcAft>
            </a:pPr>
            <a:r>
              <a:rPr sz="1500" b="0">
                <a:solidFill>
                  <a:srgbClr val="B9D6D9"/>
                </a:solidFill>
                <a:latin typeface="Meiryo"/>
              </a:rPr>
              <a:t>本実験で使う12通りの注文構成で、216通りの条件をすべて確認しました。</a:t>
            </a:r>
          </a:p>
        </p:txBody>
      </p:sp>
      <p:sp>
        <p:nvSpPr>
          <p:cNvPr id="5" name="Rounded Rectangle 4"/>
          <p:cNvSpPr/>
          <p:nvPr/>
        </p:nvSpPr>
        <p:spPr>
          <a:xfrm>
            <a:off x="685800" y="2377440"/>
            <a:ext cx="2514600" cy="1783080"/>
          </a:xfrm>
          <a:prstGeom prst="roundRect">
            <a:avLst>
              <a:gd name="adj" fmla="val 8000"/>
            </a:avLst>
          </a:prstGeom>
          <a:solidFill>
            <a:srgbClr val="0A46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68680" y="2697480"/>
            <a:ext cx="2148840" cy="685800"/>
          </a:xfrm>
          <a:prstGeom prst="rect">
            <a:avLst/>
          </a:prstGeom>
          <a:noFill/>
        </p:spPr>
        <p:txBody>
          <a:bodyPr wrap="square" lIns="0" rIns="0" tIns="0" bIns="0" anchor="t">
            <a:spAutoFit/>
          </a:bodyPr>
          <a:lstStyle/>
          <a:p>
            <a:pPr algn="ctr">
              <a:spcAft>
                <a:spcPts val="600"/>
              </a:spcAft>
            </a:pPr>
            <a:r>
              <a:rPr sz="2600" b="1">
                <a:solidFill>
                  <a:srgbClr val="02C39A"/>
                </a:solidFill>
                <a:latin typeface="Meiryo"/>
              </a:rPr>
              <a:t>216 / 216</a:t>
            </a:r>
          </a:p>
        </p:txBody>
      </p:sp>
      <p:sp>
        <p:nvSpPr>
          <p:cNvPr id="7" name="TextBox 6"/>
          <p:cNvSpPr txBox="1"/>
          <p:nvPr/>
        </p:nvSpPr>
        <p:spPr>
          <a:xfrm>
            <a:off x="868680" y="3493008"/>
            <a:ext cx="2148840" cy="457200"/>
          </a:xfrm>
          <a:prstGeom prst="rect">
            <a:avLst/>
          </a:prstGeom>
          <a:noFill/>
        </p:spPr>
        <p:txBody>
          <a:bodyPr wrap="square" lIns="0" rIns="0" tIns="0" bIns="0" anchor="t">
            <a:spAutoFit/>
          </a:bodyPr>
          <a:lstStyle/>
          <a:p>
            <a:pPr algn="ctr">
              <a:spcAft>
                <a:spcPts val="600"/>
              </a:spcAft>
            </a:pPr>
            <a:r>
              <a:rPr sz="1300" b="0">
                <a:solidFill>
                  <a:srgbClr val="B9D6D9"/>
                </a:solidFill>
                <a:latin typeface="Meiryo"/>
              </a:rPr>
              <a:t>3品すべて完成</a:t>
            </a:r>
          </a:p>
        </p:txBody>
      </p:sp>
      <p:sp>
        <p:nvSpPr>
          <p:cNvPr id="8" name="Rounded Rectangle 7"/>
          <p:cNvSpPr/>
          <p:nvPr/>
        </p:nvSpPr>
        <p:spPr>
          <a:xfrm>
            <a:off x="3447288" y="2377440"/>
            <a:ext cx="2514600" cy="1783080"/>
          </a:xfrm>
          <a:prstGeom prst="roundRect">
            <a:avLst>
              <a:gd name="adj" fmla="val 8000"/>
            </a:avLst>
          </a:prstGeom>
          <a:solidFill>
            <a:srgbClr val="0A46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630168" y="2697480"/>
            <a:ext cx="2148840" cy="685800"/>
          </a:xfrm>
          <a:prstGeom prst="rect">
            <a:avLst/>
          </a:prstGeom>
          <a:noFill/>
        </p:spPr>
        <p:txBody>
          <a:bodyPr wrap="square" lIns="0" rIns="0" tIns="0" bIns="0" anchor="t">
            <a:spAutoFit/>
          </a:bodyPr>
          <a:lstStyle/>
          <a:p>
            <a:pPr algn="ctr">
              <a:spcAft>
                <a:spcPts val="600"/>
              </a:spcAft>
            </a:pPr>
            <a:r>
              <a:rPr sz="2600" b="1">
                <a:solidFill>
                  <a:srgbClr val="02C39A"/>
                </a:solidFill>
                <a:latin typeface="Meiryo"/>
              </a:rPr>
              <a:t>0 件</a:t>
            </a:r>
          </a:p>
        </p:txBody>
      </p:sp>
      <p:sp>
        <p:nvSpPr>
          <p:cNvPr id="10" name="TextBox 9"/>
          <p:cNvSpPr txBox="1"/>
          <p:nvPr/>
        </p:nvSpPr>
        <p:spPr>
          <a:xfrm>
            <a:off x="3630168" y="3493008"/>
            <a:ext cx="2148840" cy="457200"/>
          </a:xfrm>
          <a:prstGeom prst="rect">
            <a:avLst/>
          </a:prstGeom>
          <a:noFill/>
        </p:spPr>
        <p:txBody>
          <a:bodyPr wrap="square" lIns="0" rIns="0" tIns="0" bIns="0" anchor="t">
            <a:spAutoFit/>
          </a:bodyPr>
          <a:lstStyle/>
          <a:p>
            <a:pPr algn="ctr">
              <a:spcAft>
                <a:spcPts val="600"/>
              </a:spcAft>
            </a:pPr>
            <a:r>
              <a:rPr sz="1300" b="0">
                <a:solidFill>
                  <a:srgbClr val="B9D6D9"/>
                </a:solidFill>
                <a:latin typeface="Meiryo"/>
              </a:rPr>
              <a:t>2人とも止まる時間</a:t>
            </a:r>
          </a:p>
        </p:txBody>
      </p:sp>
      <p:sp>
        <p:nvSpPr>
          <p:cNvPr id="11" name="Rounded Rectangle 10"/>
          <p:cNvSpPr/>
          <p:nvPr/>
        </p:nvSpPr>
        <p:spPr>
          <a:xfrm>
            <a:off x="6208776" y="2377440"/>
            <a:ext cx="2514600" cy="1783080"/>
          </a:xfrm>
          <a:prstGeom prst="roundRect">
            <a:avLst>
              <a:gd name="adj" fmla="val 8000"/>
            </a:avLst>
          </a:prstGeom>
          <a:solidFill>
            <a:srgbClr val="0A46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91656" y="2697480"/>
            <a:ext cx="2148840" cy="685800"/>
          </a:xfrm>
          <a:prstGeom prst="rect">
            <a:avLst/>
          </a:prstGeom>
          <a:noFill/>
        </p:spPr>
        <p:txBody>
          <a:bodyPr wrap="square" lIns="0" rIns="0" tIns="0" bIns="0" anchor="t">
            <a:spAutoFit/>
          </a:bodyPr>
          <a:lstStyle/>
          <a:p>
            <a:pPr algn="ctr">
              <a:spcAft>
                <a:spcPts val="600"/>
              </a:spcAft>
            </a:pPr>
            <a:r>
              <a:rPr sz="2600" b="1">
                <a:solidFill>
                  <a:srgbClr val="02C39A"/>
                </a:solidFill>
                <a:latin typeface="Meiryo"/>
              </a:rPr>
              <a:t>29.6 秒</a:t>
            </a:r>
          </a:p>
        </p:txBody>
      </p:sp>
      <p:sp>
        <p:nvSpPr>
          <p:cNvPr id="13" name="TextBox 12"/>
          <p:cNvSpPr txBox="1"/>
          <p:nvPr/>
        </p:nvSpPr>
        <p:spPr>
          <a:xfrm>
            <a:off x="6391656" y="3493008"/>
            <a:ext cx="2148840" cy="457200"/>
          </a:xfrm>
          <a:prstGeom prst="rect">
            <a:avLst/>
          </a:prstGeom>
          <a:noFill/>
        </p:spPr>
        <p:txBody>
          <a:bodyPr wrap="square" lIns="0" rIns="0" tIns="0" bIns="0" anchor="t">
            <a:spAutoFit/>
          </a:bodyPr>
          <a:lstStyle/>
          <a:p>
            <a:pPr algn="ctr">
              <a:spcAft>
                <a:spcPts val="600"/>
              </a:spcAft>
            </a:pPr>
            <a:r>
              <a:rPr sz="1300" b="0">
                <a:solidFill>
                  <a:srgbClr val="B9D6D9"/>
                </a:solidFill>
                <a:latin typeface="Meiryo"/>
              </a:rPr>
              <a:t>平均の所要時間</a:t>
            </a:r>
          </a:p>
        </p:txBody>
      </p:sp>
      <p:sp>
        <p:nvSpPr>
          <p:cNvPr id="14" name="Rounded Rectangle 13"/>
          <p:cNvSpPr/>
          <p:nvPr/>
        </p:nvSpPr>
        <p:spPr>
          <a:xfrm>
            <a:off x="8970264" y="2377440"/>
            <a:ext cx="2514600" cy="1783080"/>
          </a:xfrm>
          <a:prstGeom prst="roundRect">
            <a:avLst>
              <a:gd name="adj" fmla="val 8000"/>
            </a:avLst>
          </a:prstGeom>
          <a:solidFill>
            <a:srgbClr val="0A46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53144" y="2697480"/>
            <a:ext cx="2148840" cy="685800"/>
          </a:xfrm>
          <a:prstGeom prst="rect">
            <a:avLst/>
          </a:prstGeom>
          <a:noFill/>
        </p:spPr>
        <p:txBody>
          <a:bodyPr wrap="square" lIns="0" rIns="0" tIns="0" bIns="0" anchor="t">
            <a:spAutoFit/>
          </a:bodyPr>
          <a:lstStyle/>
          <a:p>
            <a:pPr algn="ctr">
              <a:spcAft>
                <a:spcPts val="600"/>
              </a:spcAft>
            </a:pPr>
            <a:r>
              <a:rPr sz="2600" b="1">
                <a:solidFill>
                  <a:srgbClr val="02C39A"/>
                </a:solidFill>
                <a:latin typeface="Meiryo"/>
              </a:rPr>
              <a:t>41.4 秒</a:t>
            </a:r>
          </a:p>
        </p:txBody>
      </p:sp>
      <p:sp>
        <p:nvSpPr>
          <p:cNvPr id="16" name="TextBox 15"/>
          <p:cNvSpPr txBox="1"/>
          <p:nvPr/>
        </p:nvSpPr>
        <p:spPr>
          <a:xfrm>
            <a:off x="9153144" y="3493008"/>
            <a:ext cx="2148840" cy="457200"/>
          </a:xfrm>
          <a:prstGeom prst="rect">
            <a:avLst/>
          </a:prstGeom>
          <a:noFill/>
        </p:spPr>
        <p:txBody>
          <a:bodyPr wrap="square" lIns="0" rIns="0" tIns="0" bIns="0" anchor="t">
            <a:spAutoFit/>
          </a:bodyPr>
          <a:lstStyle/>
          <a:p>
            <a:pPr algn="ctr">
              <a:spcAft>
                <a:spcPts val="600"/>
              </a:spcAft>
            </a:pPr>
            <a:r>
              <a:rPr sz="1300" b="0">
                <a:solidFill>
                  <a:srgbClr val="B9D6D9"/>
                </a:solidFill>
                <a:latin typeface="Meiryo"/>
              </a:rPr>
              <a:t>最も遅い試行</a:t>
            </a:r>
          </a:p>
        </p:txBody>
      </p:sp>
      <p:sp>
        <p:nvSpPr>
          <p:cNvPr id="17" name="TextBox 16"/>
          <p:cNvSpPr txBox="1"/>
          <p:nvPr/>
        </p:nvSpPr>
        <p:spPr>
          <a:xfrm>
            <a:off x="685800" y="4572000"/>
            <a:ext cx="10789920" cy="1371600"/>
          </a:xfrm>
          <a:prstGeom prst="rect">
            <a:avLst/>
          </a:prstGeom>
          <a:noFill/>
        </p:spPr>
        <p:txBody>
          <a:bodyPr wrap="square" lIns="0" rIns="0" tIns="0" bIns="0" anchor="t">
            <a:spAutoFit/>
          </a:bodyPr>
          <a:lstStyle/>
          <a:p>
            <a:pPr algn="l">
              <a:lnSpc>
                <a:spcPct val="145000"/>
              </a:lnSpc>
              <a:spcAft>
                <a:spcPts val="900"/>
              </a:spcAft>
            </a:pPr>
            <a:r>
              <a:rPr sz="1400" b="0">
                <a:solidFill>
                  <a:srgbClr val="D3E7E9"/>
                </a:solidFill>
                <a:latin typeface="Meiryo"/>
              </a:rPr>
              <a:t>制限時間は100秒。最も遅い試行でも41.4秒なので、余裕があります。</a:t>
            </a:r>
          </a:p>
          <a:p>
            <a:pPr algn="l">
              <a:lnSpc>
                <a:spcPct val="145000"/>
              </a:lnSpc>
              <a:spcAft>
                <a:spcPts val="900"/>
              </a:spcAft>
            </a:pPr>
            <a:r>
              <a:rPr sz="1400" b="0">
                <a:solidFill>
                  <a:srgbClr val="D3E7E9"/>
                </a:solidFill>
                <a:latin typeface="Meiryo"/>
              </a:rPr>
              <a:t>「2人とも止まる」は、両者の位置も持ち物も3秒以上変わらない状態のこと。煮込みの待ち時間は正当な待機として除外して数えています。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分かったこと①　指示は順序をほとんど変えなくなる</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後回しできる量が大きいほど。数字は「指示によって何番目ぶん早くなったか」で、0 なら指示してもしなくても同じ。</a:t>
            </a:r>
          </a:p>
        </p:txBody>
      </p:sp>
      <p:graphicFrame>
        <p:nvGraphicFramePr>
          <p:cNvPr id="5" name="Chart 4"/>
          <p:cNvGraphicFramePr>
            <a:graphicFrameLocks noGrp="1"/>
          </p:cNvGraphicFramePr>
          <p:nvPr/>
        </p:nvGraphicFramePr>
        <p:xfrm>
          <a:off x="685800" y="1965960"/>
          <a:ext cx="6949440" cy="3657600"/>
        </p:xfrm>
        <a:graphic>
          <a:graphicData uri="http://schemas.openxmlformats.org/drawingml/2006/chart">
            <c:chart xmlns:c="http://schemas.openxmlformats.org/drawingml/2006/chart" r:id="rId2"/>
          </a:graphicData>
        </a:graphic>
      </p:graphicFrame>
      <p:sp>
        <p:nvSpPr>
          <p:cNvPr id="6" name="Rounded Rectangle 5"/>
          <p:cNvSpPr/>
          <p:nvPr/>
        </p:nvSpPr>
        <p:spPr>
          <a:xfrm>
            <a:off x="7955279" y="1965960"/>
            <a:ext cx="3520440" cy="365760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75320" y="2286000"/>
            <a:ext cx="2880360" cy="3017520"/>
          </a:xfrm>
          <a:prstGeom prst="rect">
            <a:avLst/>
          </a:prstGeom>
          <a:noFill/>
        </p:spPr>
        <p:txBody>
          <a:bodyPr wrap="square" lIns="0" rIns="0" tIns="0" bIns="0" anchor="t">
            <a:spAutoFit/>
          </a:bodyPr>
          <a:lstStyle/>
          <a:p>
            <a:pPr algn="l">
              <a:lnSpc>
                <a:spcPct val="145000"/>
              </a:lnSpc>
              <a:spcAft>
                <a:spcPts val="1100"/>
              </a:spcAft>
            </a:pPr>
            <a:r>
              <a:rPr sz="1500" b="1">
                <a:solidFill>
                  <a:srgbClr val="028090"/>
                </a:solidFill>
                <a:latin typeface="Meiryo"/>
              </a:rPr>
              <a:t>後回しできる量が 4 のとき</a:t>
            </a:r>
          </a:p>
          <a:p>
            <a:pPr algn="l">
              <a:lnSpc>
                <a:spcPct val="145000"/>
              </a:lnSpc>
              <a:spcAft>
                <a:spcPts val="1100"/>
              </a:spcAft>
            </a:pPr>
            <a:r>
              <a:rPr sz="1350" b="0">
                <a:solidFill>
                  <a:srgbClr val="1A2E33"/>
                </a:solidFill>
                <a:latin typeface="Meiryo"/>
              </a:rPr>
              <a:t>計画に合わない指示は +0.54。指示しなかった場合とほぼ同じ順序になります。</a:t>
            </a:r>
          </a:p>
          <a:p>
            <a:pPr algn="l">
              <a:lnSpc>
                <a:spcPct val="145000"/>
              </a:lnSpc>
              <a:spcAft>
                <a:spcPts val="1100"/>
              </a:spcAft>
            </a:pPr>
            <a:r>
              <a:rPr sz="600" b="0">
                <a:solidFill>
                  <a:srgbClr val="1A2E33"/>
                </a:solidFill>
                <a:latin typeface="Meiryo"/>
              </a:rPr>
              <a:t/>
            </a:r>
          </a:p>
          <a:p>
            <a:pPr algn="l">
              <a:lnSpc>
                <a:spcPct val="145000"/>
              </a:lnSpc>
              <a:spcAft>
                <a:spcPts val="1100"/>
              </a:spcAft>
            </a:pPr>
            <a:r>
              <a:rPr sz="1350" b="1">
                <a:solidFill>
                  <a:srgbClr val="1A2E33"/>
                </a:solidFill>
                <a:latin typeface="Meiryo"/>
              </a:rPr>
              <a:t>参加者は「聞いてはいるが、自分の意図は反映されていない」状態に置かれます。</a:t>
            </a:r>
          </a:p>
        </p:txBody>
      </p:sp>
      <p:sp>
        <p:nvSpPr>
          <p:cNvPr id="8" name="TextBox 7"/>
          <p:cNvSpPr txBox="1"/>
          <p:nvPr/>
        </p:nvSpPr>
        <p:spPr>
          <a:xfrm>
            <a:off x="7955279" y="5806440"/>
            <a:ext cx="3520440" cy="640080"/>
          </a:xfrm>
          <a:prstGeom prst="rect">
            <a:avLst/>
          </a:prstGeom>
          <a:noFill/>
        </p:spPr>
        <p:txBody>
          <a:bodyPr wrap="square" lIns="0" rIns="0" tIns="0" bIns="0" anchor="t">
            <a:spAutoFit/>
          </a:bodyPr>
          <a:lstStyle/>
          <a:p>
            <a:pPr algn="l">
              <a:lnSpc>
                <a:spcPct val="135000"/>
              </a:lnSpc>
              <a:spcAft>
                <a:spcPts val="600"/>
              </a:spcAft>
            </a:pPr>
            <a:r>
              <a:rPr sz="1250" b="0">
                <a:solidFill>
                  <a:srgbClr val="6B7C80"/>
                </a:solidFill>
                <a:latin typeface="Meiryo"/>
              </a:rPr>
              <a:t>この研究が想定する心理的な仕組みに対応する、客観的な事実です。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分かったこと②　後回しにしても、料理は遅くならない</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「遅くなるから不満なのだ」という別の説明を、あらかじめ潰しておくための確認です。</a:t>
            </a:r>
          </a:p>
        </p:txBody>
      </p:sp>
      <p:sp>
        <p:nvSpPr>
          <p:cNvPr id="5" name="Rectangle 4"/>
          <p:cNvSpPr/>
          <p:nvPr/>
        </p:nvSpPr>
        <p:spPr>
          <a:xfrm>
            <a:off x="685800" y="2103120"/>
            <a:ext cx="2688336" cy="6035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2276856"/>
            <a:ext cx="2414016" cy="365760"/>
          </a:xfrm>
          <a:prstGeom prst="rect">
            <a:avLst/>
          </a:prstGeom>
          <a:noFill/>
        </p:spPr>
        <p:txBody>
          <a:bodyPr wrap="square" lIns="0" rIns="0" tIns="0" bIns="0" anchor="t">
            <a:spAutoFit/>
          </a:bodyPr>
          <a:lstStyle/>
          <a:p>
            <a:pPr algn="l">
              <a:spcAft>
                <a:spcPts val="600"/>
              </a:spcAft>
            </a:pPr>
            <a:r>
              <a:rPr sz="1350" b="1">
                <a:solidFill>
                  <a:srgbClr val="FFFFFF"/>
                </a:solidFill>
                <a:latin typeface="Meiryo"/>
              </a:rPr>
              <a:t>相手の動き方</a:t>
            </a:r>
          </a:p>
        </p:txBody>
      </p:sp>
      <p:sp>
        <p:nvSpPr>
          <p:cNvPr id="7" name="Rectangle 6"/>
          <p:cNvSpPr/>
          <p:nvPr/>
        </p:nvSpPr>
        <p:spPr>
          <a:xfrm>
            <a:off x="3429000" y="2103120"/>
            <a:ext cx="1636776" cy="6035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66160" y="2276856"/>
            <a:ext cx="1362456" cy="365760"/>
          </a:xfrm>
          <a:prstGeom prst="rect">
            <a:avLst/>
          </a:prstGeom>
          <a:noFill/>
        </p:spPr>
        <p:txBody>
          <a:bodyPr wrap="square" lIns="0" rIns="0" tIns="0" bIns="0" anchor="t">
            <a:spAutoFit/>
          </a:bodyPr>
          <a:lstStyle/>
          <a:p>
            <a:pPr algn="ctr">
              <a:spcAft>
                <a:spcPts val="600"/>
              </a:spcAft>
            </a:pPr>
            <a:r>
              <a:rPr sz="1350" b="1">
                <a:solidFill>
                  <a:srgbClr val="FFFFFF"/>
                </a:solidFill>
                <a:latin typeface="Meiryo"/>
              </a:rPr>
              <a:t>0</a:t>
            </a:r>
          </a:p>
        </p:txBody>
      </p:sp>
      <p:sp>
        <p:nvSpPr>
          <p:cNvPr id="9" name="Rectangle 8"/>
          <p:cNvSpPr/>
          <p:nvPr/>
        </p:nvSpPr>
        <p:spPr>
          <a:xfrm>
            <a:off x="5120640" y="2103120"/>
            <a:ext cx="1636776" cy="6035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257800" y="2276856"/>
            <a:ext cx="1362456" cy="365760"/>
          </a:xfrm>
          <a:prstGeom prst="rect">
            <a:avLst/>
          </a:prstGeom>
          <a:noFill/>
        </p:spPr>
        <p:txBody>
          <a:bodyPr wrap="square" lIns="0" rIns="0" tIns="0" bIns="0" anchor="t">
            <a:spAutoFit/>
          </a:bodyPr>
          <a:lstStyle/>
          <a:p>
            <a:pPr algn="ctr">
              <a:spcAft>
                <a:spcPts val="600"/>
              </a:spcAft>
            </a:pPr>
            <a:r>
              <a:rPr sz="1350" b="1">
                <a:solidFill>
                  <a:srgbClr val="FFFFFF"/>
                </a:solidFill>
                <a:latin typeface="Meiryo"/>
              </a:rPr>
              <a:t>2</a:t>
            </a:r>
          </a:p>
        </p:txBody>
      </p:sp>
      <p:sp>
        <p:nvSpPr>
          <p:cNvPr id="11" name="Rectangle 10"/>
          <p:cNvSpPr/>
          <p:nvPr/>
        </p:nvSpPr>
        <p:spPr>
          <a:xfrm>
            <a:off x="6812279" y="2103120"/>
            <a:ext cx="1636776" cy="6035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949440" y="2276856"/>
            <a:ext cx="1362456" cy="365760"/>
          </a:xfrm>
          <a:prstGeom prst="rect">
            <a:avLst/>
          </a:prstGeom>
          <a:noFill/>
        </p:spPr>
        <p:txBody>
          <a:bodyPr wrap="square" lIns="0" rIns="0" tIns="0" bIns="0" anchor="t">
            <a:spAutoFit/>
          </a:bodyPr>
          <a:lstStyle/>
          <a:p>
            <a:pPr algn="ctr">
              <a:spcAft>
                <a:spcPts val="600"/>
              </a:spcAft>
            </a:pPr>
            <a:r>
              <a:rPr sz="1350" b="1">
                <a:solidFill>
                  <a:srgbClr val="FFFFFF"/>
                </a:solidFill>
                <a:latin typeface="Meiryo"/>
              </a:rPr>
              <a:t>4</a:t>
            </a:r>
          </a:p>
        </p:txBody>
      </p:sp>
      <p:sp>
        <p:nvSpPr>
          <p:cNvPr id="13" name="Rectangle 12"/>
          <p:cNvSpPr/>
          <p:nvPr/>
        </p:nvSpPr>
        <p:spPr>
          <a:xfrm>
            <a:off x="8503919" y="2103120"/>
            <a:ext cx="2916936" cy="60350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41080" y="2276856"/>
            <a:ext cx="2642616" cy="365760"/>
          </a:xfrm>
          <a:prstGeom prst="rect">
            <a:avLst/>
          </a:prstGeom>
          <a:noFill/>
        </p:spPr>
        <p:txBody>
          <a:bodyPr wrap="square" lIns="0" rIns="0" tIns="0" bIns="0" anchor="t">
            <a:spAutoFit/>
          </a:bodyPr>
          <a:lstStyle/>
          <a:p>
            <a:pPr algn="ctr">
              <a:spcAft>
                <a:spcPts val="600"/>
              </a:spcAft>
            </a:pPr>
            <a:r>
              <a:rPr sz="1350" b="1">
                <a:solidFill>
                  <a:srgbClr val="FFFFFF"/>
                </a:solidFill>
                <a:latin typeface="Meiryo"/>
              </a:rPr>
              <a:t>0→4 の変化</a:t>
            </a:r>
          </a:p>
        </p:txBody>
      </p:sp>
      <p:sp>
        <p:nvSpPr>
          <p:cNvPr id="15" name="Rectangle 14"/>
          <p:cNvSpPr/>
          <p:nvPr/>
        </p:nvSpPr>
        <p:spPr>
          <a:xfrm>
            <a:off x="685800" y="2761487"/>
            <a:ext cx="2688336" cy="603504"/>
          </a:xfrm>
          <a:prstGeom prst="rect">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2935223"/>
            <a:ext cx="2414016" cy="365760"/>
          </a:xfrm>
          <a:prstGeom prst="rect">
            <a:avLst/>
          </a:prstGeom>
          <a:noFill/>
        </p:spPr>
        <p:txBody>
          <a:bodyPr wrap="square" lIns="0" rIns="0" tIns="0" bIns="0" anchor="t">
            <a:spAutoFit/>
          </a:bodyPr>
          <a:lstStyle/>
          <a:p>
            <a:pPr algn="l">
              <a:spcAft>
                <a:spcPts val="600"/>
              </a:spcAft>
            </a:pPr>
            <a:r>
              <a:rPr sz="1350" b="0">
                <a:solidFill>
                  <a:srgbClr val="1A2E33"/>
                </a:solidFill>
                <a:latin typeface="Meiryo"/>
              </a:rPr>
              <a:t>人間らしい相手</a:t>
            </a:r>
          </a:p>
        </p:txBody>
      </p:sp>
      <p:sp>
        <p:nvSpPr>
          <p:cNvPr id="17" name="Rectangle 16"/>
          <p:cNvSpPr/>
          <p:nvPr/>
        </p:nvSpPr>
        <p:spPr>
          <a:xfrm>
            <a:off x="3429000" y="2761487"/>
            <a:ext cx="1636776" cy="603504"/>
          </a:xfrm>
          <a:prstGeom prst="rect">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6160" y="2935223"/>
            <a:ext cx="136245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35.4 秒</a:t>
            </a:r>
          </a:p>
        </p:txBody>
      </p:sp>
      <p:sp>
        <p:nvSpPr>
          <p:cNvPr id="19" name="Rectangle 18"/>
          <p:cNvSpPr/>
          <p:nvPr/>
        </p:nvSpPr>
        <p:spPr>
          <a:xfrm>
            <a:off x="5120640" y="2761487"/>
            <a:ext cx="1636776" cy="603504"/>
          </a:xfrm>
          <a:prstGeom prst="rect">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257800" y="2935223"/>
            <a:ext cx="136245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31.8 秒</a:t>
            </a:r>
          </a:p>
        </p:txBody>
      </p:sp>
      <p:sp>
        <p:nvSpPr>
          <p:cNvPr id="21" name="Rectangle 20"/>
          <p:cNvSpPr/>
          <p:nvPr/>
        </p:nvSpPr>
        <p:spPr>
          <a:xfrm>
            <a:off x="6812279" y="2761487"/>
            <a:ext cx="1636776" cy="603504"/>
          </a:xfrm>
          <a:prstGeom prst="rect">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49440" y="2935223"/>
            <a:ext cx="136245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34.4 秒</a:t>
            </a:r>
          </a:p>
        </p:txBody>
      </p:sp>
      <p:sp>
        <p:nvSpPr>
          <p:cNvPr id="23" name="Rectangle 22"/>
          <p:cNvSpPr/>
          <p:nvPr/>
        </p:nvSpPr>
        <p:spPr>
          <a:xfrm>
            <a:off x="8503919" y="2761487"/>
            <a:ext cx="2916936" cy="603504"/>
          </a:xfrm>
          <a:prstGeom prst="rect">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641080" y="2935223"/>
            <a:ext cx="264261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−0.96 秒（差なし）</a:t>
            </a:r>
          </a:p>
        </p:txBody>
      </p:sp>
      <p:sp>
        <p:nvSpPr>
          <p:cNvPr id="25" name="Rectangle 24"/>
          <p:cNvSpPr/>
          <p:nvPr/>
        </p:nvSpPr>
        <p:spPr>
          <a:xfrm>
            <a:off x="685800" y="3419856"/>
            <a:ext cx="2688336" cy="603504"/>
          </a:xfrm>
          <a:prstGeom prst="rect">
            <a:avLst/>
          </a:prstGeom>
          <a:solidFill>
            <a:srgbClr val="F7F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2960" y="3593591"/>
            <a:ext cx="2414016" cy="365760"/>
          </a:xfrm>
          <a:prstGeom prst="rect">
            <a:avLst/>
          </a:prstGeom>
          <a:noFill/>
        </p:spPr>
        <p:txBody>
          <a:bodyPr wrap="square" lIns="0" rIns="0" tIns="0" bIns="0" anchor="t">
            <a:spAutoFit/>
          </a:bodyPr>
          <a:lstStyle/>
          <a:p>
            <a:pPr algn="l">
              <a:spcAft>
                <a:spcPts val="600"/>
              </a:spcAft>
            </a:pPr>
            <a:r>
              <a:rPr sz="1350" b="0">
                <a:solidFill>
                  <a:srgbClr val="1A2E33"/>
                </a:solidFill>
                <a:latin typeface="Meiryo"/>
              </a:rPr>
              <a:t>理想的な相手</a:t>
            </a:r>
          </a:p>
        </p:txBody>
      </p:sp>
      <p:sp>
        <p:nvSpPr>
          <p:cNvPr id="27" name="Rectangle 26"/>
          <p:cNvSpPr/>
          <p:nvPr/>
        </p:nvSpPr>
        <p:spPr>
          <a:xfrm>
            <a:off x="3429000" y="3419856"/>
            <a:ext cx="1636776" cy="603504"/>
          </a:xfrm>
          <a:prstGeom prst="rect">
            <a:avLst/>
          </a:prstGeom>
          <a:solidFill>
            <a:srgbClr val="F7F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66160" y="3593591"/>
            <a:ext cx="136245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25.6 秒</a:t>
            </a:r>
          </a:p>
        </p:txBody>
      </p:sp>
      <p:sp>
        <p:nvSpPr>
          <p:cNvPr id="29" name="Rectangle 28"/>
          <p:cNvSpPr/>
          <p:nvPr/>
        </p:nvSpPr>
        <p:spPr>
          <a:xfrm>
            <a:off x="5120640" y="3419856"/>
            <a:ext cx="1636776" cy="603504"/>
          </a:xfrm>
          <a:prstGeom prst="rect">
            <a:avLst/>
          </a:prstGeom>
          <a:solidFill>
            <a:srgbClr val="F7F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257800" y="3593591"/>
            <a:ext cx="136245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25.5 秒</a:t>
            </a:r>
          </a:p>
        </p:txBody>
      </p:sp>
      <p:sp>
        <p:nvSpPr>
          <p:cNvPr id="31" name="Rectangle 30"/>
          <p:cNvSpPr/>
          <p:nvPr/>
        </p:nvSpPr>
        <p:spPr>
          <a:xfrm>
            <a:off x="6812279" y="3419856"/>
            <a:ext cx="1636776" cy="603504"/>
          </a:xfrm>
          <a:prstGeom prst="rect">
            <a:avLst/>
          </a:prstGeom>
          <a:solidFill>
            <a:srgbClr val="F7F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949440" y="3593591"/>
            <a:ext cx="136245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25.1 秒</a:t>
            </a:r>
          </a:p>
        </p:txBody>
      </p:sp>
      <p:sp>
        <p:nvSpPr>
          <p:cNvPr id="33" name="Rectangle 32"/>
          <p:cNvSpPr/>
          <p:nvPr/>
        </p:nvSpPr>
        <p:spPr>
          <a:xfrm>
            <a:off x="8503919" y="3419856"/>
            <a:ext cx="2916936" cy="603504"/>
          </a:xfrm>
          <a:prstGeom prst="rect">
            <a:avLst/>
          </a:prstGeom>
          <a:solidFill>
            <a:srgbClr val="F7FB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641080" y="3593591"/>
            <a:ext cx="2642616" cy="365760"/>
          </a:xfrm>
          <a:prstGeom prst="rect">
            <a:avLst/>
          </a:prstGeom>
          <a:noFill/>
        </p:spPr>
        <p:txBody>
          <a:bodyPr wrap="square" lIns="0" rIns="0" tIns="0" bIns="0" anchor="t">
            <a:spAutoFit/>
          </a:bodyPr>
          <a:lstStyle/>
          <a:p>
            <a:pPr algn="ctr">
              <a:spcAft>
                <a:spcPts val="600"/>
              </a:spcAft>
            </a:pPr>
            <a:r>
              <a:rPr sz="1350" b="0">
                <a:solidFill>
                  <a:srgbClr val="1A2E33"/>
                </a:solidFill>
                <a:latin typeface="Meiryo"/>
              </a:rPr>
              <a:t>−0.44 秒（差なし）</a:t>
            </a:r>
          </a:p>
        </p:txBody>
      </p:sp>
      <p:sp>
        <p:nvSpPr>
          <p:cNvPr id="35" name="Rounded Rectangle 34"/>
          <p:cNvSpPr/>
          <p:nvPr/>
        </p:nvSpPr>
        <p:spPr>
          <a:xfrm>
            <a:off x="685800" y="4343400"/>
            <a:ext cx="10789920" cy="1234440"/>
          </a:xfrm>
          <a:prstGeom prst="roundRect">
            <a:avLst>
              <a:gd name="adj" fmla="val 8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4572000"/>
            <a:ext cx="10149840" cy="822960"/>
          </a:xfrm>
          <a:prstGeom prst="rect">
            <a:avLst/>
          </a:prstGeom>
          <a:noFill/>
        </p:spPr>
        <p:txBody>
          <a:bodyPr wrap="square" lIns="0" rIns="0" tIns="0" bIns="0" anchor="t">
            <a:spAutoFit/>
          </a:bodyPr>
          <a:lstStyle/>
          <a:p>
            <a:pPr algn="l">
              <a:lnSpc>
                <a:spcPct val="140000"/>
              </a:lnSpc>
              <a:spcAft>
                <a:spcPts val="600"/>
              </a:spcAft>
            </a:pPr>
            <a:r>
              <a:rPr sz="1500" b="1">
                <a:solidFill>
                  <a:srgbClr val="028090"/>
                </a:solidFill>
                <a:latin typeface="Meiryo"/>
              </a:rPr>
              <a:t>どちらの相手でも、統計的に意味のある変化はありませんでした。</a:t>
            </a:r>
          </a:p>
          <a:p>
            <a:pPr algn="l">
              <a:lnSpc>
                <a:spcPct val="140000"/>
              </a:lnSpc>
              <a:spcAft>
                <a:spcPts val="600"/>
              </a:spcAft>
            </a:pPr>
            <a:r>
              <a:rPr sz="1400" b="0">
                <a:solidFill>
                  <a:srgbClr val="1A2E33"/>
                </a:solidFill>
                <a:latin typeface="Meiryo"/>
              </a:rPr>
              <a:t>つまり、もし体験の悪化が観測されれば、それは「料理が遅くなったから」では説明できません。</a:t>
            </a:r>
          </a:p>
        </p:txBody>
      </p:sp>
      <p:sp>
        <p:nvSpPr>
          <p:cNvPr id="37" name="TextBox 36"/>
          <p:cNvSpPr txBox="1"/>
          <p:nvPr/>
        </p:nvSpPr>
        <p:spPr>
          <a:xfrm>
            <a:off x="685800" y="5852160"/>
            <a:ext cx="10789920" cy="777240"/>
          </a:xfrm>
          <a:prstGeom prst="rect">
            <a:avLst/>
          </a:prstGeom>
          <a:noFill/>
        </p:spPr>
        <p:txBody>
          <a:bodyPr wrap="square" lIns="0" rIns="0" tIns="0" bIns="0" anchor="t">
            <a:spAutoFit/>
          </a:bodyPr>
          <a:lstStyle/>
          <a:p>
            <a:pPr algn="l">
              <a:lnSpc>
                <a:spcPct val="135000"/>
              </a:lnSpc>
              <a:spcAft>
                <a:spcPts val="600"/>
              </a:spcAft>
            </a:pPr>
            <a:r>
              <a:rPr sz="1250" b="0">
                <a:solidFill>
                  <a:srgbClr val="6B7C80"/>
                </a:solidFill>
                <a:latin typeface="Meiryo"/>
              </a:rPr>
              <a:t>この数値は3度変わりました。停止時間による汚染、あいまいな注文構成の混入をそれぞれ特定して取り除いた結果が上の値です。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777240"/>
          </a:xfrm>
          <a:prstGeom prst="rect">
            <a:avLst/>
          </a:prstGeom>
          <a:noFill/>
        </p:spPr>
        <p:txBody>
          <a:bodyPr wrap="square" lIns="0" rIns="0" tIns="0" bIns="0" anchor="t">
            <a:spAutoFit/>
          </a:bodyPr>
          <a:lstStyle/>
          <a:p>
            <a:pPr algn="l">
              <a:spcAft>
                <a:spcPts val="600"/>
              </a:spcAft>
            </a:pPr>
            <a:r>
              <a:rPr sz="3200" b="1">
                <a:solidFill>
                  <a:srgbClr val="1A2E33"/>
                </a:solidFill>
                <a:latin typeface="Meiryo"/>
              </a:rPr>
              <a:t>現在地と、これから</a:t>
            </a:r>
          </a:p>
        </p:txBody>
      </p:sp>
      <p:sp>
        <p:nvSpPr>
          <p:cNvPr id="4" name="TextBox 3"/>
          <p:cNvSpPr txBox="1"/>
          <p:nvPr/>
        </p:nvSpPr>
        <p:spPr>
          <a:xfrm>
            <a:off x="685800" y="1298448"/>
            <a:ext cx="10789920" cy="411480"/>
          </a:xfrm>
          <a:prstGeom prst="rect">
            <a:avLst/>
          </a:prstGeom>
          <a:noFill/>
        </p:spPr>
        <p:txBody>
          <a:bodyPr wrap="square" lIns="0" rIns="0" tIns="0" bIns="0" anchor="t">
            <a:spAutoFit/>
          </a:bodyPr>
          <a:lstStyle/>
          <a:p>
            <a:pPr algn="l">
              <a:spcAft>
                <a:spcPts val="600"/>
              </a:spcAft>
            </a:pPr>
            <a:r>
              <a:rPr sz="1500" b="0">
                <a:solidFill>
                  <a:srgbClr val="6B7C80"/>
                </a:solidFill>
                <a:latin typeface="Meiryo"/>
              </a:rPr>
              <a:t>環境の準備は終わりました。ここから人に参加してもらいます。</a:t>
            </a:r>
          </a:p>
        </p:txBody>
      </p:sp>
      <p:sp>
        <p:nvSpPr>
          <p:cNvPr id="5" name="Rounded Rectangle 4"/>
          <p:cNvSpPr/>
          <p:nvPr/>
        </p:nvSpPr>
        <p:spPr>
          <a:xfrm>
            <a:off x="685800" y="2011680"/>
            <a:ext cx="5257800" cy="3794760"/>
          </a:xfrm>
          <a:prstGeom prst="roundRect">
            <a:avLst>
              <a:gd name="adj" fmla="val 8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005840" y="2286000"/>
            <a:ext cx="548640" cy="54864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済</a:t>
            </a:r>
          </a:p>
        </p:txBody>
      </p:sp>
      <p:sp>
        <p:nvSpPr>
          <p:cNvPr id="7" name="TextBox 6"/>
          <p:cNvSpPr txBox="1"/>
          <p:nvPr/>
        </p:nvSpPr>
        <p:spPr>
          <a:xfrm>
            <a:off x="1810512" y="2404872"/>
            <a:ext cx="3840480" cy="411480"/>
          </a:xfrm>
          <a:prstGeom prst="rect">
            <a:avLst/>
          </a:prstGeom>
          <a:noFill/>
        </p:spPr>
        <p:txBody>
          <a:bodyPr wrap="square" lIns="0" rIns="0" tIns="0" bIns="0" anchor="t">
            <a:spAutoFit/>
          </a:bodyPr>
          <a:lstStyle/>
          <a:p>
            <a:pPr algn="l">
              <a:spcAft>
                <a:spcPts val="600"/>
              </a:spcAft>
            </a:pPr>
            <a:r>
              <a:rPr sz="1800" b="1">
                <a:solidFill>
                  <a:srgbClr val="028090"/>
                </a:solidFill>
                <a:latin typeface="Meiryo"/>
              </a:rPr>
              <a:t>完了していること</a:t>
            </a:r>
          </a:p>
        </p:txBody>
      </p:sp>
      <p:sp>
        <p:nvSpPr>
          <p:cNvPr id="8" name="TextBox 7"/>
          <p:cNvSpPr txBox="1"/>
          <p:nvPr/>
        </p:nvSpPr>
        <p:spPr>
          <a:xfrm>
            <a:off x="1005840" y="3154680"/>
            <a:ext cx="4617720" cy="2377440"/>
          </a:xfrm>
          <a:prstGeom prst="rect">
            <a:avLst/>
          </a:prstGeom>
          <a:noFill/>
        </p:spPr>
        <p:txBody>
          <a:bodyPr wrap="square" lIns="0" rIns="0" tIns="0" bIns="0" anchor="t">
            <a:spAutoFit/>
          </a:bodyPr>
          <a:lstStyle/>
          <a:p>
            <a:pPr algn="l">
              <a:lnSpc>
                <a:spcPct val="140000"/>
              </a:lnSpc>
              <a:spcAft>
                <a:spcPts val="1300"/>
              </a:spcAft>
            </a:pPr>
            <a:r>
              <a:rPr sz="1400" b="0">
                <a:solidFill>
                  <a:srgbClr val="1A2E33"/>
                </a:solidFill>
                <a:latin typeface="Meiryo"/>
              </a:rPr>
              <a:t>・環境の実装と検証（完走率100%・停止0件）</a:t>
            </a:r>
          </a:p>
          <a:p>
            <a:pPr algn="l">
              <a:lnSpc>
                <a:spcPct val="140000"/>
              </a:lnSpc>
              <a:spcAft>
                <a:spcPts val="1300"/>
              </a:spcAft>
            </a:pPr>
            <a:r>
              <a:rPr sz="1400" b="0">
                <a:solidFill>
                  <a:srgbClr val="1A2E33"/>
                </a:solidFill>
                <a:latin typeface="Meiryo"/>
              </a:rPr>
              <a:t>・シミュレーションによる事前検証（216通り）</a:t>
            </a:r>
          </a:p>
          <a:p>
            <a:pPr algn="l">
              <a:lnSpc>
                <a:spcPct val="140000"/>
              </a:lnSpc>
              <a:spcAft>
                <a:spcPts val="1300"/>
              </a:spcAft>
            </a:pPr>
            <a:r>
              <a:rPr sz="1400" b="0">
                <a:solidFill>
                  <a:srgbClr val="1A2E33"/>
                </a:solidFill>
                <a:latin typeface="Meiryo"/>
              </a:rPr>
              <a:t>・アンケート項目の確定（既存の検証済み尺度）</a:t>
            </a:r>
          </a:p>
          <a:p>
            <a:pPr algn="l">
              <a:lnSpc>
                <a:spcPct val="140000"/>
              </a:lnSpc>
              <a:spcAft>
                <a:spcPts val="1300"/>
              </a:spcAft>
            </a:pPr>
            <a:r>
              <a:rPr sz="1400" b="0">
                <a:solidFill>
                  <a:srgbClr val="1A2E33"/>
                </a:solidFill>
                <a:latin typeface="Meiryo"/>
              </a:rPr>
              <a:t>・参加者がプレイする経路の用意</a:t>
            </a:r>
          </a:p>
        </p:txBody>
      </p:sp>
      <p:sp>
        <p:nvSpPr>
          <p:cNvPr id="9" name="Rounded Rectangle 8"/>
          <p:cNvSpPr/>
          <p:nvPr/>
        </p:nvSpPr>
        <p:spPr>
          <a:xfrm>
            <a:off x="6263640" y="2011680"/>
            <a:ext cx="5212080" cy="3794760"/>
          </a:xfrm>
          <a:prstGeom prst="roundRect">
            <a:avLst>
              <a:gd name="adj" fmla="val 8000"/>
            </a:avLst>
          </a:prstGeom>
          <a:solidFill>
            <a:srgbClr val="EC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583680" y="2286000"/>
            <a:ext cx="548640" cy="548640"/>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rPr>
              <a:t>次</a:t>
            </a:r>
          </a:p>
        </p:txBody>
      </p:sp>
      <p:sp>
        <p:nvSpPr>
          <p:cNvPr id="11" name="TextBox 10"/>
          <p:cNvSpPr txBox="1"/>
          <p:nvPr/>
        </p:nvSpPr>
        <p:spPr>
          <a:xfrm>
            <a:off x="7388352" y="2404872"/>
            <a:ext cx="3840480" cy="411480"/>
          </a:xfrm>
          <a:prstGeom prst="rect">
            <a:avLst/>
          </a:prstGeom>
          <a:noFill/>
        </p:spPr>
        <p:txBody>
          <a:bodyPr wrap="square" lIns="0" rIns="0" tIns="0" bIns="0" anchor="t">
            <a:spAutoFit/>
          </a:bodyPr>
          <a:lstStyle/>
          <a:p>
            <a:pPr algn="l">
              <a:spcAft>
                <a:spcPts val="600"/>
              </a:spcAft>
            </a:pPr>
            <a:r>
              <a:rPr sz="1800" b="1">
                <a:solidFill>
                  <a:srgbClr val="D9534F"/>
                </a:solidFill>
                <a:latin typeface="Meiryo"/>
              </a:rPr>
              <a:t>これからやること</a:t>
            </a:r>
          </a:p>
        </p:txBody>
      </p:sp>
      <p:sp>
        <p:nvSpPr>
          <p:cNvPr id="12" name="TextBox 11"/>
          <p:cNvSpPr txBox="1"/>
          <p:nvPr/>
        </p:nvSpPr>
        <p:spPr>
          <a:xfrm>
            <a:off x="6583680" y="3154680"/>
            <a:ext cx="4572000" cy="2377440"/>
          </a:xfrm>
          <a:prstGeom prst="rect">
            <a:avLst/>
          </a:prstGeom>
          <a:noFill/>
        </p:spPr>
        <p:txBody>
          <a:bodyPr wrap="square" lIns="0" rIns="0" tIns="0" bIns="0" anchor="t">
            <a:spAutoFit/>
          </a:bodyPr>
          <a:lstStyle/>
          <a:p>
            <a:pPr algn="l">
              <a:lnSpc>
                <a:spcPct val="140000"/>
              </a:lnSpc>
              <a:spcAft>
                <a:spcPts val="1300"/>
              </a:spcAft>
            </a:pPr>
            <a:r>
              <a:rPr sz="1400" b="0">
                <a:solidFill>
                  <a:srgbClr val="1A2E33"/>
                </a:solidFill>
                <a:latin typeface="Meiryo"/>
              </a:rPr>
              <a:t>・自分で3条件をプレイして、違いが分かるか確認</a:t>
            </a:r>
          </a:p>
          <a:p>
            <a:pPr algn="l">
              <a:lnSpc>
                <a:spcPct val="140000"/>
              </a:lnSpc>
              <a:spcAft>
                <a:spcPts val="1300"/>
              </a:spcAft>
            </a:pPr>
            <a:r>
              <a:rPr sz="1400" b="0">
                <a:solidFill>
                  <a:srgbClr val="1A2E33"/>
                </a:solidFill>
                <a:latin typeface="Meiryo"/>
              </a:rPr>
              <a:t>・人の動きとシミュレーションの人間モデルを突き合わせ</a:t>
            </a:r>
          </a:p>
          <a:p>
            <a:pPr algn="l">
              <a:lnSpc>
                <a:spcPct val="140000"/>
              </a:lnSpc>
              <a:spcAft>
                <a:spcPts val="1300"/>
              </a:spcAft>
            </a:pPr>
            <a:r>
              <a:rPr sz="1400" b="0">
                <a:solidFill>
                  <a:srgbClr val="1A2E33"/>
                </a:solidFill>
                <a:latin typeface="Meiryo"/>
              </a:rPr>
              <a:t>・参加者の募集（15〜30名）</a:t>
            </a:r>
          </a:p>
          <a:p>
            <a:pPr algn="l">
              <a:lnSpc>
                <a:spcPct val="140000"/>
              </a:lnSpc>
              <a:spcAft>
                <a:spcPts val="1300"/>
              </a:spcAft>
            </a:pPr>
            <a:r>
              <a:rPr sz="1400" b="0">
                <a:solidFill>
                  <a:srgbClr val="1A2E33"/>
                </a:solidFill>
                <a:latin typeface="Meiryo"/>
              </a:rPr>
              <a:t>・本実験の実施と分析</a:t>
            </a:r>
          </a:p>
        </p:txBody>
      </p:sp>
      <p:sp>
        <p:nvSpPr>
          <p:cNvPr id="13" name="TextBox 12"/>
          <p:cNvSpPr txBox="1"/>
          <p:nvPr/>
        </p:nvSpPr>
        <p:spPr>
          <a:xfrm>
            <a:off x="685800" y="6035040"/>
            <a:ext cx="10789920" cy="457200"/>
          </a:xfrm>
          <a:prstGeom prst="rect">
            <a:avLst/>
          </a:prstGeom>
          <a:noFill/>
        </p:spPr>
        <p:txBody>
          <a:bodyPr wrap="square" lIns="0" rIns="0" tIns="0" bIns="0" anchor="t">
            <a:spAutoFit/>
          </a:bodyPr>
          <a:lstStyle/>
          <a:p>
            <a:pPr algn="l">
              <a:spcAft>
                <a:spcPts val="600"/>
              </a:spcAft>
            </a:pPr>
            <a:r>
              <a:rPr sz="1350" b="0">
                <a:solidFill>
                  <a:srgbClr val="6B7C80"/>
                </a:solidFill>
                <a:latin typeface="Meiryo"/>
              </a:rPr>
              <a:t>参加者は1人あたり3セッション（後回しの量 0 / 2 / 4）を体験し、毎回アンケートに答えます。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3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10332720" cy="457200"/>
          </a:xfrm>
          <a:prstGeom prst="rect">
            <a:avLst/>
          </a:prstGeom>
          <a:noFill/>
        </p:spPr>
        <p:txBody>
          <a:bodyPr wrap="square" lIns="0" rIns="0" tIns="0" bIns="0" anchor="t">
            <a:spAutoFit/>
          </a:bodyPr>
          <a:lstStyle/>
          <a:p>
            <a:pPr algn="l">
              <a:spcAft>
                <a:spcPts val="600"/>
              </a:spcAft>
            </a:pPr>
            <a:r>
              <a:rPr sz="1700" b="1">
                <a:solidFill>
                  <a:srgbClr val="02C39A"/>
                </a:solidFill>
                <a:latin typeface="Meiryo"/>
              </a:rPr>
              <a:t>まとめ</a:t>
            </a:r>
          </a:p>
        </p:txBody>
      </p:sp>
      <p:sp>
        <p:nvSpPr>
          <p:cNvPr id="4" name="TextBox 3"/>
          <p:cNvSpPr txBox="1"/>
          <p:nvPr/>
        </p:nvSpPr>
        <p:spPr>
          <a:xfrm>
            <a:off x="914400" y="2286000"/>
            <a:ext cx="10332720" cy="2377440"/>
          </a:xfrm>
          <a:prstGeom prst="rect">
            <a:avLst/>
          </a:prstGeom>
          <a:noFill/>
        </p:spPr>
        <p:txBody>
          <a:bodyPr wrap="square" lIns="0" rIns="0" tIns="0" bIns="0" anchor="t">
            <a:spAutoFit/>
          </a:bodyPr>
          <a:lstStyle/>
          <a:p>
            <a:pPr algn="l">
              <a:lnSpc>
                <a:spcPct val="140000"/>
              </a:lnSpc>
              <a:spcAft>
                <a:spcPts val="1000"/>
              </a:spcAft>
            </a:pPr>
            <a:r>
              <a:rPr sz="2700" b="1">
                <a:solidFill>
                  <a:srgbClr val="FFFFFF"/>
                </a:solidFill>
                <a:latin typeface="Meiryo"/>
              </a:rPr>
              <a:t>効率のよい AI ほど、人の指示を後回しにします。</a:t>
            </a:r>
          </a:p>
          <a:p>
            <a:pPr algn="l">
              <a:lnSpc>
                <a:spcPct val="140000"/>
              </a:lnSpc>
              <a:spcAft>
                <a:spcPts val="1000"/>
              </a:spcAft>
            </a:pPr>
            <a:r>
              <a:rPr sz="2700" b="1">
                <a:solidFill>
                  <a:srgbClr val="FFFFFF"/>
                </a:solidFill>
                <a:latin typeface="Meiryo"/>
              </a:rPr>
              <a:t>その「後回し」が、人の協調感と信頼感にどう響くのか。</a:t>
            </a:r>
          </a:p>
          <a:p>
            <a:pPr algn="l">
              <a:lnSpc>
                <a:spcPct val="140000"/>
              </a:lnSpc>
              <a:spcAft>
                <a:spcPts val="1000"/>
              </a:spcAft>
            </a:pPr>
            <a:r>
              <a:rPr sz="2700" b="1">
                <a:solidFill>
                  <a:srgbClr val="FFFFFF"/>
                </a:solidFill>
                <a:latin typeface="Meiryo"/>
              </a:rPr>
              <a:t>それを測れる環境が、ようやく整いました。</a:t>
            </a:r>
          </a:p>
        </p:txBody>
      </p:sp>
      <p:sp>
        <p:nvSpPr>
          <p:cNvPr id="5" name="TextBox 4"/>
          <p:cNvSpPr txBox="1"/>
          <p:nvPr/>
        </p:nvSpPr>
        <p:spPr>
          <a:xfrm>
            <a:off x="914400" y="5120640"/>
            <a:ext cx="10332720" cy="822960"/>
          </a:xfrm>
          <a:prstGeom prst="rect">
            <a:avLst/>
          </a:prstGeom>
          <a:noFill/>
        </p:spPr>
        <p:txBody>
          <a:bodyPr wrap="square" lIns="0" rIns="0" tIns="0" bIns="0" anchor="t">
            <a:spAutoFit/>
          </a:bodyPr>
          <a:lstStyle/>
          <a:p>
            <a:pPr algn="l">
              <a:spcAft>
                <a:spcPts val="600"/>
              </a:spcAft>
            </a:pPr>
            <a:r>
              <a:rPr sz="1600" b="0">
                <a:solidFill>
                  <a:srgbClr val="B9D6D9"/>
                </a:solidFill>
                <a:latin typeface="Meiryo"/>
              </a:rPr>
              <a:t>次は、実際に人に遊んでもらいます。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